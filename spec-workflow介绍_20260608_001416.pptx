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这不是单纯介绍一个 Skill，而是介绍一套让 AI Coding 在团队里可复用、可审计、可落地的工作方式。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Coding 当前最大的问题不是代码生成能力，而是需求、上下文、协作和验证机制没有被工程化。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解决这些问题的关键，不是让 AI 更自由发挥，而是把隐性沟通变成显性规格，把临时对话变成持续流程。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spec-workflow 的核心价值，是把需求、设计、实现、测试、运维和版本治理串成一条可确认、可追踪的链路。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这一页要重点强调：spec-workflow 不是多写几份文档，而是把每个痛点都对应成明确机制和可见结果。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同一套版本化文档既服务人，也服务 AI，所以新成员和新会话都能更快进入状态，减少重复解释。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先问清楚再开始生成，是避免 AI 在需求上游就走偏的第一道门，也是降低返工成本最划算的动作。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技术方案必须建立在真实仓库之上，这样生成出来的 dev.md 才不是通用模板，而是真正能落地的实现方案。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测试不是开发结束后的补丁，而是规格阶段就要被定义好的验收闭环，这会直接决定 AI 交付是否可信。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团队最终要管理的不是一段代码，而是一连串可追溯的版本变化，包括目标、范围、风险和状态。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Coding 如果只关注功能能不能跑，而不关注能否上线、监控、回滚和复盘，交付就不完整。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文档边界越清晰，AI 越不容易把需求、设计、实现、测试和运维混写在一起，团队协作成本也越低。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真正的使用方式不是一句 prompt 直接写代码，而是先沉淀 PRD 和后续规格，再进入实现和维护。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把规则写进 `CLAUDE.md`，才能让后来接手的人和 AI 都在同一套规范里工作，而不是靠口头记忆。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最好的落地方式不是一次性推全团队，而是从下一个明确版本开始试点，先跑出一个可复用样板。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F0FE"/>
              </a:gs>
              <a:gs pos="50000">
                <a:srgbClr val="FFFFFF"/>
              </a:gs>
              <a:gs pos="100000">
                <a:srgbClr val="E8F5E9"/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285750" y="285750"/>
            <a:ext cx="2286000" cy="2286000"/>
          </a:xfrm>
          <a:prstGeom prst="ellipse">
            <a:avLst/>
          </a:prstGeom>
          <a:solidFill>
            <a:srgbClr val="4285F4">
              <a:alpha val="8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9334500" y="4000500"/>
            <a:ext cx="2857500" cy="2857500"/>
          </a:xfrm>
          <a:prstGeom prst="ellipse">
            <a:avLst/>
          </a:prstGeom>
          <a:solidFill>
            <a:srgbClr val="34A853">
              <a:alpha val="8000"/>
            </a:srgbClr>
          </a:solidFill>
          <a:ln>
            <a:noFill/>
          </a:ln>
        </p:spPr>
      </p:sp>
      <p:sp>
        <p:nvSpPr>
          <p:cNvPr id="5" name="Rectangle 5"/>
          <p:cNvSpPr/>
          <p:nvPr/>
        </p:nvSpPr>
        <p:spPr>
          <a:xfrm rot="900000">
            <a:off x="8572500" y="762000"/>
            <a:ext cx="1714500" cy="1714500"/>
          </a:xfrm>
          <a:prstGeom prst="roundRect">
            <a:avLst>
              <a:gd name="adj" fmla="val 11111"/>
            </a:avLst>
          </a:prstGeom>
          <a:solidFill>
            <a:srgbClr val="FBBC04">
              <a:alpha val="6000"/>
            </a:srgbClr>
          </a:solidFill>
          <a:ln>
            <a:noFill/>
          </a:ln>
        </p:spPr>
      </p:sp>
      <p:sp>
        <p:nvSpPr>
          <p:cNvPr id="6" name="Rectangle 6"/>
          <p:cNvSpPr/>
          <p:nvPr/>
        </p:nvSpPr>
        <p:spPr>
          <a:xfrm>
            <a:off x="0" y="0"/>
            <a:ext cx="95250" cy="1714500"/>
          </a:xfrm>
          <a:prstGeom prst="rect">
            <a:avLst/>
          </a:prstGeom>
          <a:solidFill>
            <a:srgbClr val="4285F4"/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0" y="1714500"/>
            <a:ext cx="95250" cy="1714500"/>
          </a:xfrm>
          <a:prstGeom prst="rect">
            <a:avLst/>
          </a:prstGeom>
          <a:solidFill>
            <a:srgbClr val="EA4335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0" y="3429000"/>
            <a:ext cx="95250" cy="1714500"/>
          </a:xfrm>
          <a:prstGeom prst="rect">
            <a:avLst/>
          </a:prstGeom>
          <a:solidFill>
            <a:srgbClr val="FBBC04"/>
          </a:solidFill>
          <a:ln>
            <a:noFill/>
          </a:ln>
        </p:spPr>
      </p:sp>
      <p:sp>
        <p:nvSpPr>
          <p:cNvPr id="9" name="Rectangle 9"/>
          <p:cNvSpPr/>
          <p:nvPr/>
        </p:nvSpPr>
        <p:spPr>
          <a:xfrm>
            <a:off x="0" y="5143500"/>
            <a:ext cx="95250" cy="1714500"/>
          </a:xfrm>
          <a:prstGeom prst="rect">
            <a:avLst/>
          </a:prstGeom>
          <a:solidFill>
            <a:srgbClr val="34A853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1714500" y="1047750"/>
            <a:ext cx="8763000" cy="4667250"/>
            <a:chOff x="1714500" y="1047750"/>
            <a:chExt cx="8763000" cy="4667250"/>
          </a:xfrm>
        </p:grpSpPr>
        <p:sp>
          <p:nvSpPr>
            <p:cNvPr id="10" name="Rectangle 10"/>
            <p:cNvSpPr/>
            <p:nvPr/>
          </p:nvSpPr>
          <p:spPr>
            <a:xfrm>
              <a:off x="1714500" y="1047750"/>
              <a:ext cx="8763000" cy="46672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1572806" y="1658302"/>
            <a:ext cx="9046388" cy="1656398"/>
            <a:chOff x="1572806" y="1658302"/>
            <a:chExt cx="9046388" cy="1656398"/>
          </a:xfrm>
        </p:grpSpPr>
        <p:sp>
          <p:nvSpPr>
            <p:cNvPr id="12" name="TextBox 12"/>
            <p:cNvSpPr txBox="1"/>
            <p:nvPr/>
          </p:nvSpPr>
          <p:spPr>
            <a:xfrm>
              <a:off x="1572806" y="1658302"/>
              <a:ext cx="9046388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gradFill>
                    <a:gsLst>
                      <a:gs pos="0">
                        <a:srgbClr val="1A73E8"/>
                      </a:gs>
                      <a:gs pos="100000">
                        <a:srgbClr val="0D47A1"/>
                      </a:gs>
                    </a:gsLst>
                    <a:lin ang="0" scaled="1"/>
                  </a:gradFill>
                  <a:latin typeface="Arial"/>
                  <a:ea typeface="Microsoft YaHei"/>
                  <a:cs typeface="Arial"/>
                </a:rPr>
                <a:t>用 spec-workflow 让 AI Coding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55991" y="2267902"/>
              <a:ext cx="7680017" cy="8229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050" b="1" dirty="0">
                  <a:gradFill>
                    <a:gsLst>
                      <a:gs pos="0">
                        <a:srgbClr val="1A73E8"/>
                      </a:gs>
                      <a:gs pos="100000">
                        <a:srgbClr val="0D47A1"/>
                      </a:gs>
                    </a:gsLst>
                    <a:lin ang="0" scaled="1"/>
                  </a:gradFill>
                  <a:latin typeface="Arial"/>
                  <a:ea typeface="Microsoft YaHei"/>
                  <a:cs typeface="Arial"/>
                </a:rPr>
                <a:t>从“写代码”走向“可控交付”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79425" y="2948940"/>
              <a:ext cx="463315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面向团队协作的文档驱动 AI 开发工作流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3810000" y="3524250"/>
            <a:ext cx="4572000" cy="9525"/>
            <a:chOff x="3810000" y="3524250"/>
            <a:chExt cx="4572000" cy="9525"/>
          </a:xfrm>
        </p:grpSpPr>
        <p:sp>
          <p:nvSpPr>
            <p:cNvPr id="16" name="Line 16"/>
            <p:cNvSpPr/>
            <p:nvPr/>
          </p:nvSpPr>
          <p:spPr>
            <a:xfrm>
              <a:off x="3810000" y="3524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38100" cap="rnd">
              <a:solidFill>
                <a:srgbClr val="4285F4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334000" y="35242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38100" cap="rnd">
              <a:solidFill>
                <a:srgbClr val="EA4335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191250" y="352425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38100" cap="rnd">
              <a:solidFill>
                <a:srgbClr val="FBBC0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7048500" y="3524250"/>
              <a:ext cx="1333500" cy="9525"/>
            </a:xfrm>
            <a:custGeom>
              <a:avLst/>
              <a:gdLst/>
              <a:ahLst/>
              <a:cxnLst/>
              <a:rect l="l" t="t" r="r" b="b"/>
              <a:pathLst>
                <a:path w="1333500" h="9525">
                  <a:moveTo>
                    <a:pt x="0" y="0"/>
                  </a:moveTo>
                  <a:lnTo>
                    <a:pt x="1333500" y="0"/>
                  </a:lnTo>
                </a:path>
              </a:pathLst>
            </a:custGeom>
            <a:noFill/>
            <a:ln w="38100" cap="rnd">
              <a:solidFill>
                <a:srgbClr val="34A853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653695" y="3773805"/>
            <a:ext cx="4884610" cy="660083"/>
            <a:chOff x="3653695" y="3773805"/>
            <a:chExt cx="4884610" cy="660083"/>
          </a:xfrm>
        </p:grpSpPr>
        <p:sp>
          <p:nvSpPr>
            <p:cNvPr id="21" name="TextBox 21"/>
            <p:cNvSpPr txBox="1"/>
            <p:nvPr/>
          </p:nvSpPr>
          <p:spPr>
            <a:xfrm>
              <a:off x="4314211" y="3773805"/>
              <a:ext cx="3563579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spec-workflow v3.0.0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53695" y="4159568"/>
              <a:ext cx="48846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结构化需求 / 版本化文档 / AI 稳定上下文 / 可追踪交付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476500" y="4762500"/>
            <a:ext cx="1619250" cy="419100"/>
            <a:chOff x="2476500" y="4762500"/>
            <a:chExt cx="1619250" cy="419100"/>
          </a:xfrm>
        </p:grpSpPr>
        <p:sp>
          <p:nvSpPr>
            <p:cNvPr id="24" name="Rectangle 24"/>
            <p:cNvSpPr/>
            <p:nvPr/>
          </p:nvSpPr>
          <p:spPr>
            <a:xfrm>
              <a:off x="2476500" y="4762500"/>
              <a:ext cx="1619250" cy="4191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751415" y="489299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结构化需求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33875" y="4762500"/>
            <a:ext cx="1619250" cy="419100"/>
            <a:chOff x="4333875" y="4762500"/>
            <a:chExt cx="1619250" cy="419100"/>
          </a:xfrm>
        </p:grpSpPr>
        <p:sp>
          <p:nvSpPr>
            <p:cNvPr id="27" name="Rectangle 27"/>
            <p:cNvSpPr/>
            <p:nvPr/>
          </p:nvSpPr>
          <p:spPr>
            <a:xfrm>
              <a:off x="4333875" y="4762500"/>
              <a:ext cx="1619250" cy="4191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608790" y="489299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版本化文档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6191250" y="4762500"/>
            <a:ext cx="1809750" cy="419100"/>
            <a:chOff x="6191250" y="4762500"/>
            <a:chExt cx="1809750" cy="419100"/>
          </a:xfrm>
        </p:grpSpPr>
        <p:sp>
          <p:nvSpPr>
            <p:cNvPr id="30" name="Rectangle 30"/>
            <p:cNvSpPr/>
            <p:nvPr/>
          </p:nvSpPr>
          <p:spPr>
            <a:xfrm>
              <a:off x="6191250" y="4762500"/>
              <a:ext cx="1809750" cy="419100"/>
            </a:xfrm>
            <a:prstGeom prst="roundRect">
              <a:avLst>
                <a:gd name="adj" fmla="val 50000"/>
              </a:avLst>
            </a:prstGeom>
            <a:solidFill>
              <a:srgbClr val="FEF7E0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442375" y="4892992"/>
              <a:ext cx="130749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AI 稳定上下文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239125" y="4762500"/>
            <a:ext cx="1619250" cy="419100"/>
            <a:chOff x="8239125" y="4762500"/>
            <a:chExt cx="1619250" cy="419100"/>
          </a:xfrm>
        </p:grpSpPr>
        <p:sp>
          <p:nvSpPr>
            <p:cNvPr id="33" name="Rectangle 33"/>
            <p:cNvSpPr/>
            <p:nvPr/>
          </p:nvSpPr>
          <p:spPr>
            <a:xfrm>
              <a:off x="8239125" y="4762500"/>
              <a:ext cx="1619250" cy="419100"/>
            </a:xfrm>
            <a:prstGeom prst="roundRect">
              <a:avLst>
                <a:gd name="adj" fmla="val 50000"/>
              </a:avLst>
            </a:prstGeom>
            <a:solidFill>
              <a:srgbClr val="E6F4EA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8514040" y="4892992"/>
              <a:ext cx="106941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可追踪交付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838700" y="6010275"/>
            <a:ext cx="2400300" cy="266700"/>
            <a:chOff x="4838700" y="6010275"/>
            <a:chExt cx="2400300" cy="266700"/>
          </a:xfrm>
        </p:grpSpPr>
        <p:sp>
          <p:nvSpPr>
            <p:cNvPr id="36" name="Ellipse 36"/>
            <p:cNvSpPr/>
            <p:nvPr/>
          </p:nvSpPr>
          <p:spPr>
            <a:xfrm>
              <a:off x="4838700" y="6029325"/>
              <a:ext cx="228600" cy="228600"/>
            </a:xfrm>
            <a:prstGeom prst="ellipse">
              <a:avLst/>
            </a:prstGeom>
            <a:solidFill>
              <a:srgbClr val="4285F4">
                <a:alpha val="90000"/>
              </a:srgbClr>
            </a:solidFill>
            <a:ln>
              <a:noFill/>
            </a:ln>
          </p:spPr>
        </p:sp>
        <p:sp>
          <p:nvSpPr>
            <p:cNvPr id="37" name="Ellipse 37"/>
            <p:cNvSpPr/>
            <p:nvPr/>
          </p:nvSpPr>
          <p:spPr>
            <a:xfrm>
              <a:off x="5334000" y="6048375"/>
              <a:ext cx="190500" cy="190500"/>
            </a:xfrm>
            <a:prstGeom prst="ellipse">
              <a:avLst/>
            </a:prstGeom>
            <a:solidFill>
              <a:srgbClr val="EA4335">
                <a:alpha val="90000"/>
              </a:srgbClr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5676900" y="6010275"/>
              <a:ext cx="266700" cy="266700"/>
            </a:xfrm>
            <a:prstGeom prst="ellipse">
              <a:avLst/>
            </a:prstGeom>
            <a:solidFill>
              <a:srgbClr val="FBBC04">
                <a:alpha val="90000"/>
              </a:srgbClr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6191250" y="6048375"/>
              <a:ext cx="190500" cy="190500"/>
            </a:xfrm>
            <a:prstGeom prst="ellipse">
              <a:avLst/>
            </a:prstGeom>
            <a:solidFill>
              <a:srgbClr val="34A853">
                <a:alpha val="90000"/>
              </a:srgbClr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6553200" y="6029325"/>
              <a:ext cx="228600" cy="228600"/>
            </a:xfrm>
            <a:prstGeom prst="ellipse">
              <a:avLst/>
            </a:prstGeom>
            <a:solidFill>
              <a:srgbClr val="4285F4">
                <a:alpha val="90000"/>
              </a:srgbClr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7048500" y="6048375"/>
              <a:ext cx="190500" cy="190500"/>
            </a:xfrm>
            <a:prstGeom prst="ellipse">
              <a:avLst/>
            </a:prstGeom>
            <a:solidFill>
              <a:srgbClr val="EA4335">
                <a:alpha val="90000"/>
              </a:srgbClr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6300"/>
                            </p:stCondLst>
                            <p:childTnLst>
                              <p:par>
                                <p:cTn id="3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20" grpId="0"/>
      <p:bldP spid="23" grpId="0"/>
      <p:bldP spid="26" grpId="0"/>
      <p:bldP spid="29" grpId="0"/>
      <p:bldP spid="32" grpId="0"/>
      <p:bldP spid="3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5305" y="511492"/>
            <a:ext cx="8201606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AI Coding 的问题，往往不在“写代码”本身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1089660"/>
            <a:ext cx="336042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问题不在生成代码，而在生成可交付结果。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571500" y="1428750"/>
            <a:ext cx="4221314" cy="4381500"/>
            <a:chOff x="571500" y="1428750"/>
            <a:chExt cx="4221314" cy="4381500"/>
          </a:xfrm>
        </p:grpSpPr>
        <p:sp>
          <p:nvSpPr>
            <p:cNvPr id="7" name="Rectangle 7"/>
            <p:cNvSpPr/>
            <p:nvPr/>
          </p:nvSpPr>
          <p:spPr>
            <a:xfrm>
              <a:off x="571500" y="1428750"/>
              <a:ext cx="3429000" cy="4381500"/>
            </a:xfrm>
            <a:prstGeom prst="roundRect">
              <a:avLst>
                <a:gd name="adj" fmla="val 5000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828675" y="1685925"/>
              <a:ext cx="342900" cy="3429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904875" y="1771650"/>
              <a:ext cx="190500" cy="181421"/>
            </a:xfrm>
            <a:custGeom>
              <a:avLst/>
              <a:gdLst/>
              <a:ahLst/>
              <a:cxnLst/>
              <a:rect l="l" t="t" r="r" b="b"/>
              <a:pathLst>
                <a:path w="190500" h="181421">
                  <a:moveTo>
                    <a:pt x="152400" y="0"/>
                  </a:moveTo>
                  <a:cubicBezTo>
                    <a:pt x="173442" y="0"/>
                    <a:pt x="190500" y="17058"/>
                    <a:pt x="190500" y="38100"/>
                  </a:cubicBezTo>
                  <a:lnTo>
                    <a:pt x="190500" y="114300"/>
                  </a:lnTo>
                  <a:cubicBezTo>
                    <a:pt x="190500" y="135342"/>
                    <a:pt x="173442" y="152400"/>
                    <a:pt x="152400" y="152400"/>
                  </a:cubicBezTo>
                  <a:lnTo>
                    <a:pt x="107404" y="152400"/>
                  </a:lnTo>
                  <a:lnTo>
                    <a:pt x="62046" y="179613"/>
                  </a:lnTo>
                  <a:cubicBezTo>
                    <a:pt x="59270" y="181279"/>
                    <a:pt x="55839" y="181421"/>
                    <a:pt x="52935" y="179990"/>
                  </a:cubicBezTo>
                  <a:cubicBezTo>
                    <a:pt x="50031" y="178559"/>
                    <a:pt x="48053" y="175752"/>
                    <a:pt x="47682" y="172536"/>
                  </a:cubicBezTo>
                  <a:lnTo>
                    <a:pt x="47625" y="171450"/>
                  </a:lnTo>
                  <a:lnTo>
                    <a:pt x="47625" y="152400"/>
                  </a:lnTo>
                  <a:lnTo>
                    <a:pt x="38100" y="152400"/>
                  </a:lnTo>
                  <a:cubicBezTo>
                    <a:pt x="17798" y="152400"/>
                    <a:pt x="1063" y="136481"/>
                    <a:pt x="48" y="116205"/>
                  </a:cubicBezTo>
                  <a:lnTo>
                    <a:pt x="0" y="114300"/>
                  </a:lnTo>
                  <a:lnTo>
                    <a:pt x="0" y="38100"/>
                  </a:lnTo>
                  <a:cubicBezTo>
                    <a:pt x="0" y="17058"/>
                    <a:pt x="17058" y="0"/>
                    <a:pt x="38100" y="0"/>
                  </a:cubicBezTo>
                  <a:close/>
                  <a:moveTo>
                    <a:pt x="125730" y="88449"/>
                  </a:moveTo>
                  <a:cubicBezTo>
                    <a:pt x="121974" y="84767"/>
                    <a:pt x="115944" y="84827"/>
                    <a:pt x="112262" y="88583"/>
                  </a:cubicBezTo>
                  <a:cubicBezTo>
                    <a:pt x="107783" y="93155"/>
                    <a:pt x="101651" y="95732"/>
                    <a:pt x="95250" y="95732"/>
                  </a:cubicBezTo>
                  <a:cubicBezTo>
                    <a:pt x="88849" y="95732"/>
                    <a:pt x="82717" y="93155"/>
                    <a:pt x="78238" y="88583"/>
                  </a:cubicBezTo>
                  <a:cubicBezTo>
                    <a:pt x="74540" y="84916"/>
                    <a:pt x="68583" y="84900"/>
                    <a:pt x="64865" y="88546"/>
                  </a:cubicBezTo>
                  <a:cubicBezTo>
                    <a:pt x="61146" y="92191"/>
                    <a:pt x="61045" y="98147"/>
                    <a:pt x="64637" y="101917"/>
                  </a:cubicBezTo>
                  <a:cubicBezTo>
                    <a:pt x="72698" y="110144"/>
                    <a:pt x="83732" y="114780"/>
                    <a:pt x="95250" y="114780"/>
                  </a:cubicBezTo>
                  <a:cubicBezTo>
                    <a:pt x="106768" y="114780"/>
                    <a:pt x="117802" y="110144"/>
                    <a:pt x="125863" y="101917"/>
                  </a:cubicBezTo>
                  <a:cubicBezTo>
                    <a:pt x="129545" y="98161"/>
                    <a:pt x="129485" y="92132"/>
                    <a:pt x="125730" y="88449"/>
                  </a:cubicBezTo>
                  <a:moveTo>
                    <a:pt x="71533" y="47625"/>
                  </a:moveTo>
                  <a:lnTo>
                    <a:pt x="71438" y="47625"/>
                  </a:lnTo>
                  <a:cubicBezTo>
                    <a:pt x="66177" y="47625"/>
                    <a:pt x="61912" y="51889"/>
                    <a:pt x="61912" y="57150"/>
                  </a:cubicBezTo>
                  <a:cubicBezTo>
                    <a:pt x="61912" y="62411"/>
                    <a:pt x="66177" y="66675"/>
                    <a:pt x="71438" y="66675"/>
                  </a:cubicBezTo>
                  <a:lnTo>
                    <a:pt x="71533" y="66675"/>
                  </a:lnTo>
                  <a:cubicBezTo>
                    <a:pt x="76793" y="66675"/>
                    <a:pt x="81058" y="62411"/>
                    <a:pt x="81058" y="57150"/>
                  </a:cubicBezTo>
                  <a:cubicBezTo>
                    <a:pt x="81058" y="51889"/>
                    <a:pt x="76793" y="47625"/>
                    <a:pt x="71533" y="47625"/>
                  </a:cubicBezTo>
                  <a:moveTo>
                    <a:pt x="119158" y="47625"/>
                  </a:moveTo>
                  <a:lnTo>
                    <a:pt x="119062" y="47625"/>
                  </a:lnTo>
                  <a:cubicBezTo>
                    <a:pt x="113802" y="47625"/>
                    <a:pt x="109538" y="51889"/>
                    <a:pt x="109538" y="57150"/>
                  </a:cubicBezTo>
                  <a:cubicBezTo>
                    <a:pt x="109538" y="62411"/>
                    <a:pt x="113802" y="66675"/>
                    <a:pt x="119062" y="66675"/>
                  </a:cubicBezTo>
                  <a:lnTo>
                    <a:pt x="119158" y="66675"/>
                  </a:lnTo>
                  <a:cubicBezTo>
                    <a:pt x="124418" y="66675"/>
                    <a:pt x="128683" y="62411"/>
                    <a:pt x="128683" y="57150"/>
                  </a:cubicBezTo>
                  <a:cubicBezTo>
                    <a:pt x="128683" y="51889"/>
                    <a:pt x="124418" y="47625"/>
                    <a:pt x="119158" y="476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261110" y="1713548"/>
              <a:ext cx="9466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需求层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22008" y="2195989"/>
              <a:ext cx="35983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1. 需求描述零散：一句话需求、口头讨论、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22008" y="2453164"/>
              <a:ext cx="397080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聊天记录混在一起，AI 很容易只理解局部信息。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22008" y="2910364"/>
              <a:ext cx="36635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2. 边界容易被脑补：没有明确“不做什么”、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2008" y="3167539"/>
              <a:ext cx="363562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“优先级是什么”“验收标准是什么”时，AI 会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22008" y="342471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自行补全业务规则。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22008" y="3881914"/>
              <a:ext cx="36449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3. 交付结果不可验证：看起来代码完成了，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2008" y="4139089"/>
              <a:ext cx="39428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但缺少从需求到验收、测试、上线检查的闭环。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381500" y="1428750"/>
            <a:ext cx="4314421" cy="4381500"/>
            <a:chOff x="4381500" y="1428750"/>
            <a:chExt cx="4314421" cy="4381500"/>
          </a:xfrm>
        </p:grpSpPr>
        <p:sp>
          <p:nvSpPr>
            <p:cNvPr id="19" name="Rectangle 19"/>
            <p:cNvSpPr/>
            <p:nvPr/>
          </p:nvSpPr>
          <p:spPr>
            <a:xfrm>
              <a:off x="4381500" y="1428750"/>
              <a:ext cx="3429000" cy="4381500"/>
            </a:xfrm>
            <a:prstGeom prst="roundRect">
              <a:avLst>
                <a:gd name="adj" fmla="val 5000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20" name="Ellipse 20"/>
            <p:cNvSpPr/>
            <p:nvPr/>
          </p:nvSpPr>
          <p:spPr>
            <a:xfrm>
              <a:off x="4638675" y="1685925"/>
              <a:ext cx="342900" cy="3429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4743450" y="1762125"/>
              <a:ext cx="133350" cy="190500"/>
              <a:chOff x="4743450" y="1762125"/>
              <a:chExt cx="133350" cy="1905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4762500" y="17621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47625" y="0"/>
                    </a:moveTo>
                    <a:cubicBezTo>
                      <a:pt x="73928" y="0"/>
                      <a:pt x="95250" y="21322"/>
                      <a:pt x="95250" y="47625"/>
                    </a:cubicBezTo>
                    <a:cubicBezTo>
                      <a:pt x="95250" y="73928"/>
                      <a:pt x="73928" y="95250"/>
                      <a:pt x="47625" y="95250"/>
                    </a:cubicBezTo>
                    <a:cubicBezTo>
                      <a:pt x="21322" y="95250"/>
                      <a:pt x="0" y="73928"/>
                      <a:pt x="0" y="47625"/>
                    </a:cubicBezTo>
                    <a:lnTo>
                      <a:pt x="48" y="45558"/>
                    </a:lnTo>
                    <a:cubicBezTo>
                      <a:pt x="1154" y="20084"/>
                      <a:pt x="22127" y="1"/>
                      <a:pt x="4762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4743450" y="1876425"/>
                <a:ext cx="1333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76200">
                    <a:moveTo>
                      <a:pt x="85725" y="0"/>
                    </a:moveTo>
                    <a:cubicBezTo>
                      <a:pt x="112028" y="0"/>
                      <a:pt x="133350" y="21322"/>
                      <a:pt x="133350" y="47625"/>
                    </a:cubicBezTo>
                    <a:lnTo>
                      <a:pt x="133350" y="57150"/>
                    </a:lnTo>
                    <a:cubicBezTo>
                      <a:pt x="133350" y="67671"/>
                      <a:pt x="124821" y="76200"/>
                      <a:pt x="114300" y="76200"/>
                    </a:cubicBezTo>
                    <a:lnTo>
                      <a:pt x="19050" y="76200"/>
                    </a:lnTo>
                    <a:cubicBezTo>
                      <a:pt x="8529" y="76200"/>
                      <a:pt x="0" y="67671"/>
                      <a:pt x="0" y="571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5071110" y="1713548"/>
              <a:ext cx="9466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协作层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632008" y="2195989"/>
              <a:ext cx="36449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4. 上下文不稳定：同一个项目在不同会话、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32008" y="2453164"/>
              <a:ext cx="378459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不同成员、不同阶段反复解释背景，AI 对项目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32008" y="2710339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规则缺少长期记忆。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32008" y="3167539"/>
              <a:ext cx="36449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5. 跨角色理解不一致：产品关注目标，研发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32008" y="342471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关注实现，测试关注验证，运维关注上线，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32008" y="3681889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但缺少统一文档承接。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632008" y="4139089"/>
              <a:ext cx="36449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6. 代码、文档、测试不同步：代码改了，但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632008" y="4396264"/>
              <a:ext cx="40639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PRD、技术方案、测试用例、运维说明没有同步。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91500" y="1428750"/>
            <a:ext cx="3820954" cy="4381500"/>
            <a:chOff x="8191500" y="1428750"/>
            <a:chExt cx="3820954" cy="4381500"/>
          </a:xfrm>
        </p:grpSpPr>
        <p:sp>
          <p:nvSpPr>
            <p:cNvPr id="34" name="Rectangle 34"/>
            <p:cNvSpPr/>
            <p:nvPr/>
          </p:nvSpPr>
          <p:spPr>
            <a:xfrm>
              <a:off x="8191500" y="1428750"/>
              <a:ext cx="3429000" cy="4381500"/>
            </a:xfrm>
            <a:prstGeom prst="roundRect">
              <a:avLst>
                <a:gd name="adj" fmla="val 5000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8448675" y="1685925"/>
              <a:ext cx="342900" cy="3429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36" name="Freeform 36"/>
            <p:cNvSpPr/>
            <p:nvPr/>
          </p:nvSpPr>
          <p:spPr>
            <a:xfrm>
              <a:off x="8518265" y="1755515"/>
              <a:ext cx="203721" cy="203721"/>
            </a:xfrm>
            <a:custGeom>
              <a:avLst/>
              <a:gdLst/>
              <a:ahLst/>
              <a:cxnLst/>
              <a:rect l="l" t="t" r="r" b="b"/>
              <a:pathLst>
                <a:path w="203721" h="203721">
                  <a:moveTo>
                    <a:pt x="127073" y="26432"/>
                  </a:moveTo>
                  <a:cubicBezTo>
                    <a:pt x="127591" y="28571"/>
                    <a:pt x="129100" y="30334"/>
                    <a:pt x="131133" y="31178"/>
                  </a:cubicBezTo>
                  <a:cubicBezTo>
                    <a:pt x="133166" y="32021"/>
                    <a:pt x="135480" y="31843"/>
                    <a:pt x="137360" y="30699"/>
                  </a:cubicBezTo>
                  <a:cubicBezTo>
                    <a:pt x="160592" y="16554"/>
                    <a:pt x="187176" y="43129"/>
                    <a:pt x="173031" y="66361"/>
                  </a:cubicBezTo>
                  <a:cubicBezTo>
                    <a:pt x="171887" y="68240"/>
                    <a:pt x="171708" y="70552"/>
                    <a:pt x="172549" y="72585"/>
                  </a:cubicBezTo>
                  <a:cubicBezTo>
                    <a:pt x="173390" y="74618"/>
                    <a:pt x="175151" y="76127"/>
                    <a:pt x="177289" y="76648"/>
                  </a:cubicBezTo>
                  <a:cubicBezTo>
                    <a:pt x="203721" y="83058"/>
                    <a:pt x="203721" y="120653"/>
                    <a:pt x="177289" y="127073"/>
                  </a:cubicBezTo>
                  <a:cubicBezTo>
                    <a:pt x="175150" y="127591"/>
                    <a:pt x="173386" y="129100"/>
                    <a:pt x="172543" y="131133"/>
                  </a:cubicBezTo>
                  <a:cubicBezTo>
                    <a:pt x="171700" y="133166"/>
                    <a:pt x="171877" y="135480"/>
                    <a:pt x="173022" y="137360"/>
                  </a:cubicBezTo>
                  <a:cubicBezTo>
                    <a:pt x="187166" y="160591"/>
                    <a:pt x="160592" y="187176"/>
                    <a:pt x="137360" y="173031"/>
                  </a:cubicBezTo>
                  <a:cubicBezTo>
                    <a:pt x="135481" y="171887"/>
                    <a:pt x="133169" y="171708"/>
                    <a:pt x="131136" y="172549"/>
                  </a:cubicBezTo>
                  <a:cubicBezTo>
                    <a:pt x="129103" y="173390"/>
                    <a:pt x="127594" y="175151"/>
                    <a:pt x="127073" y="177289"/>
                  </a:cubicBezTo>
                  <a:cubicBezTo>
                    <a:pt x="120663" y="203721"/>
                    <a:pt x="83068" y="203721"/>
                    <a:pt x="76648" y="177289"/>
                  </a:cubicBezTo>
                  <a:cubicBezTo>
                    <a:pt x="76129" y="175150"/>
                    <a:pt x="74621" y="173386"/>
                    <a:pt x="72588" y="172543"/>
                  </a:cubicBezTo>
                  <a:cubicBezTo>
                    <a:pt x="70555" y="171700"/>
                    <a:pt x="68241" y="171877"/>
                    <a:pt x="66361" y="173022"/>
                  </a:cubicBezTo>
                  <a:cubicBezTo>
                    <a:pt x="43129" y="187166"/>
                    <a:pt x="16545" y="160591"/>
                    <a:pt x="30690" y="137360"/>
                  </a:cubicBezTo>
                  <a:cubicBezTo>
                    <a:pt x="31834" y="135481"/>
                    <a:pt x="32013" y="133169"/>
                    <a:pt x="31172" y="131136"/>
                  </a:cubicBezTo>
                  <a:cubicBezTo>
                    <a:pt x="30330" y="129103"/>
                    <a:pt x="28569" y="127594"/>
                    <a:pt x="26432" y="127073"/>
                  </a:cubicBezTo>
                  <a:cubicBezTo>
                    <a:pt x="0" y="120663"/>
                    <a:pt x="0" y="83068"/>
                    <a:pt x="26432" y="76648"/>
                  </a:cubicBezTo>
                  <a:cubicBezTo>
                    <a:pt x="28571" y="76129"/>
                    <a:pt x="30334" y="74621"/>
                    <a:pt x="31178" y="72588"/>
                  </a:cubicBezTo>
                  <a:cubicBezTo>
                    <a:pt x="32021" y="70555"/>
                    <a:pt x="31843" y="68241"/>
                    <a:pt x="30699" y="66361"/>
                  </a:cubicBezTo>
                  <a:cubicBezTo>
                    <a:pt x="16554" y="43129"/>
                    <a:pt x="43129" y="16545"/>
                    <a:pt x="66361" y="30690"/>
                  </a:cubicBezTo>
                  <a:cubicBezTo>
                    <a:pt x="68238" y="31843"/>
                    <a:pt x="70554" y="32026"/>
                    <a:pt x="72590" y="31184"/>
                  </a:cubicBezTo>
                  <a:cubicBezTo>
                    <a:pt x="74626" y="30341"/>
                    <a:pt x="76134" y="28574"/>
                    <a:pt x="76648" y="26432"/>
                  </a:cubicBezTo>
                  <a:cubicBezTo>
                    <a:pt x="83058" y="0"/>
                    <a:pt x="120653" y="0"/>
                    <a:pt x="127073" y="26432"/>
                  </a:cubicBezTo>
                  <a:close/>
                  <a:moveTo>
                    <a:pt x="101860" y="73285"/>
                  </a:moveTo>
                  <a:cubicBezTo>
                    <a:pt x="86079" y="73285"/>
                    <a:pt x="73285" y="86079"/>
                    <a:pt x="73285" y="101860"/>
                  </a:cubicBezTo>
                  <a:cubicBezTo>
                    <a:pt x="73285" y="117642"/>
                    <a:pt x="86079" y="130435"/>
                    <a:pt x="101860" y="130435"/>
                  </a:cubicBezTo>
                  <a:cubicBezTo>
                    <a:pt x="117642" y="130435"/>
                    <a:pt x="130435" y="117642"/>
                    <a:pt x="130435" y="101860"/>
                  </a:cubicBezTo>
                  <a:cubicBezTo>
                    <a:pt x="130435" y="86079"/>
                    <a:pt x="117642" y="73285"/>
                    <a:pt x="101860" y="7328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881110" y="1713548"/>
              <a:ext cx="94664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工程层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42008" y="2195989"/>
              <a:ext cx="34866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7. 技术方案脱离真实项目：AI 可能按通用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42008" y="245316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模板生成方案，没有先理解当前仓库结构、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442008" y="2710339"/>
              <a:ext cx="226695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依赖版本、代码组织方式。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442008" y="3167539"/>
              <a:ext cx="33749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8. 版本不可追溯：迭代后难以回答“这个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42008" y="3424714"/>
              <a:ext cx="357044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版本为什么做、做了什么、改动影响哪里、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42008" y="3681889"/>
              <a:ext cx="10658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如何回滚”。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45" name="Ellipse 45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51" name="TextBox 51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3" grpId="0"/>
      <p:bldP spid="4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5305" y="511492"/>
            <a:ext cx="863866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用规格化流程约束 AI，而不是让 AI 自由发挥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1089660"/>
            <a:ext cx="26593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把临时对话变成可持续协作流程。</a:t>
            </a:r>
          </a:p>
        </p:txBody>
      </p:sp>
      <p:sp>
        <p:nvSpPr>
          <p:cNvPr id="7" name="Line 7"/>
          <p:cNvSpPr/>
          <p:nvPr/>
        </p:nvSpPr>
        <p:spPr>
          <a:xfrm>
            <a:off x="1381125" y="3333750"/>
            <a:ext cx="9429750" cy="1"/>
          </a:xfrm>
          <a:prstGeom prst="line">
            <a:avLst/>
          </a:prstGeom>
          <a:noFill/>
          <a:ln w="38100">
            <a:solidFill>
              <a:srgbClr val="4285F4"/>
            </a:solidFill>
            <a:tailEnd type="triangle" w="lg" len="lg"/>
          </a:ln>
        </p:spPr>
      </p:sp>
      <p:grpSp>
        <p:nvGrpSpPr>
          <p:cNvPr id="15" name="Group 15"/>
          <p:cNvGrpSpPr/>
          <p:nvPr/>
        </p:nvGrpSpPr>
        <p:grpSpPr>
          <a:xfrm>
            <a:off x="666750" y="2095500"/>
            <a:ext cx="1895476" cy="1809750"/>
            <a:chOff x="666750" y="2095500"/>
            <a:chExt cx="1895476" cy="1809750"/>
          </a:xfrm>
        </p:grpSpPr>
        <p:sp>
          <p:nvSpPr>
            <p:cNvPr id="8" name="Rectangle 8"/>
            <p:cNvSpPr/>
            <p:nvPr/>
          </p:nvSpPr>
          <p:spPr>
            <a:xfrm>
              <a:off x="666750" y="2095500"/>
              <a:ext cx="1619250" cy="1809750"/>
            </a:xfrm>
            <a:prstGeom prst="roundRect">
              <a:avLst>
                <a:gd name="adj" fmla="val 10588"/>
              </a:avLst>
            </a:prstGeom>
            <a:solidFill>
              <a:srgbClr val="E8F0FE"/>
            </a:solidFill>
            <a:ln w="9525">
              <a:solidFill>
                <a:srgbClr val="4285F4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304925" y="2209800"/>
              <a:ext cx="342900" cy="3429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33532" y="2318385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31782" y="25922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需求先结构化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90588" y="30027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先澄清目标用户、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90588" y="32313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核心场景、成功标准、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90588" y="34599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优先级和不做范围。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2428875" y="2095500"/>
            <a:ext cx="2059781" cy="1809750"/>
            <a:chOff x="2428875" y="2095500"/>
            <a:chExt cx="2059781" cy="1809750"/>
          </a:xfrm>
        </p:grpSpPr>
        <p:sp>
          <p:nvSpPr>
            <p:cNvPr id="16" name="Rectangle 16"/>
            <p:cNvSpPr/>
            <p:nvPr/>
          </p:nvSpPr>
          <p:spPr>
            <a:xfrm>
              <a:off x="2428875" y="2095500"/>
              <a:ext cx="1619250" cy="1809750"/>
            </a:xfrm>
            <a:prstGeom prst="roundRect">
              <a:avLst>
                <a:gd name="adj" fmla="val 10588"/>
              </a:avLst>
            </a:prstGeom>
            <a:solidFill>
              <a:srgbClr val="FDECEA"/>
            </a:solidFill>
            <a:ln w="9525">
              <a:solidFill>
                <a:srgbClr val="EA4335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>
              <a:off x="3067050" y="2209800"/>
              <a:ext cx="342900" cy="3429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3172654" y="23183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614672" y="2592229"/>
              <a:ext cx="124765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文档先确认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52712" y="3002756"/>
              <a:ext cx="149090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先确认 `prd.md`，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652712" y="32313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再进入设计与技术方案，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52712" y="3459956"/>
              <a:ext cx="18359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避免需求未定就写代码。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4191000" y="2095500"/>
            <a:ext cx="1895476" cy="1809750"/>
            <a:chOff x="4191000" y="2095500"/>
            <a:chExt cx="1895476" cy="1809750"/>
          </a:xfrm>
        </p:grpSpPr>
        <p:sp>
          <p:nvSpPr>
            <p:cNvPr id="24" name="Rectangle 24"/>
            <p:cNvSpPr/>
            <p:nvPr/>
          </p:nvSpPr>
          <p:spPr>
            <a:xfrm>
              <a:off x="4191000" y="2095500"/>
              <a:ext cx="1619250" cy="1809750"/>
            </a:xfrm>
            <a:prstGeom prst="roundRect">
              <a:avLst>
                <a:gd name="adj" fmla="val 10588"/>
              </a:avLst>
            </a:prstGeom>
            <a:solidFill>
              <a:srgbClr val="FEF7E0"/>
            </a:solidFill>
            <a:ln w="9525">
              <a:solidFill>
                <a:srgbClr val="FBBC0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4829175" y="2209800"/>
              <a:ext cx="342900" cy="3429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934779" y="23183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56032" y="25922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方案基于仓库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414838" y="30027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先读目录、配置、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414838" y="32313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入口文件和现有模块，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414838" y="34599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再生成方案。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53125" y="2095500"/>
            <a:ext cx="1895475" cy="1809750"/>
            <a:chOff x="5953125" y="2095500"/>
            <a:chExt cx="1895475" cy="1809750"/>
          </a:xfrm>
        </p:grpSpPr>
        <p:sp>
          <p:nvSpPr>
            <p:cNvPr id="32" name="Rectangle 32"/>
            <p:cNvSpPr/>
            <p:nvPr/>
          </p:nvSpPr>
          <p:spPr>
            <a:xfrm>
              <a:off x="5953125" y="2095500"/>
              <a:ext cx="1619250" cy="1809750"/>
            </a:xfrm>
            <a:prstGeom prst="roundRect">
              <a:avLst>
                <a:gd name="adj" fmla="val 10588"/>
              </a:avLst>
            </a:prstGeom>
            <a:solidFill>
              <a:srgbClr val="E6F4EA"/>
            </a:solidFill>
            <a:ln w="9525">
              <a:solidFill>
                <a:srgbClr val="34A853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6591300" y="2209800"/>
              <a:ext cx="342900" cy="3429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96904" y="23183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8157" y="25922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验证提前定义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76962" y="30027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在规格阶段同步定义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176962" y="32313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测试策略、验收标准、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176962" y="345995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部署前检查。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715250" y="2095500"/>
            <a:ext cx="1895476" cy="1809750"/>
            <a:chOff x="7715250" y="2095500"/>
            <a:chExt cx="1895476" cy="1809750"/>
          </a:xfrm>
        </p:grpSpPr>
        <p:sp>
          <p:nvSpPr>
            <p:cNvPr id="40" name="Rectangle 40"/>
            <p:cNvSpPr/>
            <p:nvPr/>
          </p:nvSpPr>
          <p:spPr>
            <a:xfrm>
              <a:off x="7715250" y="2095500"/>
              <a:ext cx="1619250" cy="1809750"/>
            </a:xfrm>
            <a:prstGeom prst="roundRect">
              <a:avLst>
                <a:gd name="adj" fmla="val 10588"/>
              </a:avLst>
            </a:prstGeom>
            <a:solidFill>
              <a:srgbClr val="E8F0FE"/>
            </a:solidFill>
            <a:ln w="9525">
              <a:solidFill>
                <a:srgbClr val="4285F4"/>
              </a:solidFill>
            </a:ln>
          </p:spPr>
        </p:sp>
        <p:sp>
          <p:nvSpPr>
            <p:cNvPr id="41" name="Ellipse 41"/>
            <p:cNvSpPr/>
            <p:nvPr/>
          </p:nvSpPr>
          <p:spPr>
            <a:xfrm>
              <a:off x="8353425" y="2209800"/>
              <a:ext cx="342900" cy="3429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8459029" y="23183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780282" y="2592229"/>
              <a:ext cx="148918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版本持续沉淀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39088" y="300275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每次新增、修复、重构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939088" y="32313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都进入版本化目录，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939088" y="34599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并同步索引与日志。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403527" y="2095500"/>
            <a:ext cx="2108983" cy="1809750"/>
            <a:chOff x="9403527" y="2095500"/>
            <a:chExt cx="2108983" cy="1809750"/>
          </a:xfrm>
        </p:grpSpPr>
        <p:sp>
          <p:nvSpPr>
            <p:cNvPr id="48" name="Rectangle 48"/>
            <p:cNvSpPr/>
            <p:nvPr/>
          </p:nvSpPr>
          <p:spPr>
            <a:xfrm>
              <a:off x="9477375" y="2095500"/>
              <a:ext cx="1619250" cy="1809750"/>
            </a:xfrm>
            <a:prstGeom prst="roundRect">
              <a:avLst>
                <a:gd name="adj" fmla="val 10588"/>
              </a:avLst>
            </a:prstGeom>
            <a:solidFill>
              <a:srgbClr val="FDECEA"/>
            </a:solidFill>
            <a:ln w="9525">
              <a:solidFill>
                <a:srgbClr val="EA4335"/>
              </a:solidFill>
            </a:ln>
          </p:spPr>
        </p:sp>
        <p:sp>
          <p:nvSpPr>
            <p:cNvPr id="49" name="Ellipse 49"/>
            <p:cNvSpPr/>
            <p:nvPr/>
          </p:nvSpPr>
          <p:spPr>
            <a:xfrm>
              <a:off x="10115550" y="2209800"/>
              <a:ext cx="342900" cy="3429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221154" y="2318385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6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403527" y="2592229"/>
              <a:ext cx="1766946" cy="320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75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AI 上下文长期化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701212" y="3002756"/>
              <a:ext cx="181129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通过 `CLAUDE.md` 沉淀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701212" y="3231356"/>
              <a:ext cx="15073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项目背景、技术栈与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01212" y="34599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协作规则。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2857500" y="4476750"/>
            <a:ext cx="6477000" cy="909638"/>
            <a:chOff x="2857500" y="4476750"/>
            <a:chExt cx="6477000" cy="909638"/>
          </a:xfrm>
        </p:grpSpPr>
        <p:sp>
          <p:nvSpPr>
            <p:cNvPr id="56" name="Rectangle 56"/>
            <p:cNvSpPr/>
            <p:nvPr/>
          </p:nvSpPr>
          <p:spPr>
            <a:xfrm>
              <a:off x="2857500" y="4476750"/>
              <a:ext cx="6477000" cy="904875"/>
            </a:xfrm>
            <a:prstGeom prst="roundRect">
              <a:avLst>
                <a:gd name="adj" fmla="val 21053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097588" y="4761548"/>
              <a:ext cx="39968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把“隐性沟通”变成“显性规格”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4481798" y="5112068"/>
              <a:ext cx="322840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把“临时对话”变成“可持续协作流程”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60" name="Ellipse 60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66" name="TextBox 66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23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23" grpId="0"/>
      <p:bldP spid="31" grpId="0"/>
      <p:bldP spid="39" grpId="0"/>
      <p:bldP spid="47" grpId="0"/>
      <p:bldP spid="55" grpId="0"/>
      <p:bldP spid="5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527685"/>
            <a:ext cx="1085462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spec-workflow：面向 AI 协作开发的文档驱动工作流 Skill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571500" y="1381125"/>
            <a:ext cx="4953000" cy="4636294"/>
            <a:chOff x="571500" y="1381125"/>
            <a:chExt cx="4953000" cy="4636294"/>
          </a:xfrm>
        </p:grpSpPr>
        <p:sp>
          <p:nvSpPr>
            <p:cNvPr id="6" name="Rectangle 6"/>
            <p:cNvSpPr/>
            <p:nvPr/>
          </p:nvSpPr>
          <p:spPr>
            <a:xfrm>
              <a:off x="571500" y="1381125"/>
              <a:ext cx="4953000" cy="4286250"/>
            </a:xfrm>
            <a:prstGeom prst="roundRect">
              <a:avLst>
                <a:gd name="adj" fmla="val 4444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1583055"/>
              <a:ext cx="134150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它是什么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1058" y="2053114"/>
              <a:ext cx="407322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一句话定义：`spec-workflow` 是一个面向 AI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50608" y="2310289"/>
              <a:ext cx="28814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协作开发的文档驱动工作流 Skill。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1058" y="2786539"/>
              <a:ext cx="39149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它做什么：通过结构化、版本化的项目文档，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50608" y="3043714"/>
              <a:ext cx="37566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把需求、设计、实现、测试、运维和迭代过程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0608" y="3300889"/>
              <a:ext cx="9634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串联起来。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1058" y="3777139"/>
              <a:ext cx="350527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它解决什么问题：为 AI Coding 提供稳定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0608" y="4034314"/>
              <a:ext cx="412908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上下文，提升开发的准确性、可控性与可追溯性。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41058" y="4510564"/>
              <a:ext cx="35611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它关注什么：不是“模型会不会写代码”，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50608" y="4767739"/>
              <a:ext cx="37566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而是需求是否清晰、边界是否明确、技术方案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50608" y="50249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是否可执行、验证标准是否完整。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41058" y="5501164"/>
              <a:ext cx="37287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它带来的结果：把模糊想法沉淀为可确认、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50608" y="5758339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可追踪、可迭代的开发上下文。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905500" y="1381125"/>
            <a:ext cx="8373085" cy="4286250"/>
            <a:chOff x="5905500" y="1381125"/>
            <a:chExt cx="8373085" cy="4286250"/>
          </a:xfrm>
        </p:grpSpPr>
        <p:sp>
          <p:nvSpPr>
            <p:cNvPr id="21" name="Rectangle 21"/>
            <p:cNvSpPr/>
            <p:nvPr/>
          </p:nvSpPr>
          <p:spPr>
            <a:xfrm>
              <a:off x="5905500" y="1381125"/>
              <a:ext cx="5715000" cy="428625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164580" y="1583055"/>
              <a:ext cx="166354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它怎么运作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239000" y="2428875"/>
              <a:ext cx="3048000" cy="1"/>
            </a:xfrm>
            <a:prstGeom prst="line">
              <a:avLst/>
            </a:prstGeom>
            <a:noFill/>
            <a:ln w="28575">
              <a:solidFill>
                <a:srgbClr val="4285F4"/>
              </a:solidFill>
              <a:tailEnd type="triangle" w="lg" len="lg"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174105" y="2181225"/>
              <a:ext cx="1897523" cy="852487"/>
              <a:chOff x="6174105" y="2181225"/>
              <a:chExt cx="1897523" cy="852487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6419850" y="2181225"/>
                <a:ext cx="495300" cy="495300"/>
              </a:xfrm>
              <a:prstGeom prst="ellipse">
                <a:avLst/>
              </a:prstGeom>
              <a:solidFill>
                <a:srgbClr val="4285F4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601654" y="23660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0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174105" y="2759392"/>
                <a:ext cx="189752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需求澄清与方案拷问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336155" y="2181225"/>
              <a:ext cx="1462769" cy="852487"/>
              <a:chOff x="7336155" y="2181225"/>
              <a:chExt cx="1462769" cy="852487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7562850" y="2181225"/>
                <a:ext cx="495300" cy="495300"/>
              </a:xfrm>
              <a:prstGeom prst="ellipse">
                <a:avLst/>
              </a:prstGeom>
              <a:solidFill>
                <a:srgbClr val="EA4335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767657" y="2366010"/>
                <a:ext cx="8568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7336155" y="2759392"/>
                <a:ext cx="1462769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生成 `prd.md`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8174355" y="2181225"/>
              <a:ext cx="2943004" cy="852487"/>
              <a:chOff x="8174355" y="2181225"/>
              <a:chExt cx="2943004" cy="852487"/>
            </a:xfrm>
          </p:grpSpPr>
          <p:sp>
            <p:nvSpPr>
              <p:cNvPr id="32" name="Ellipse 32"/>
              <p:cNvSpPr/>
              <p:nvPr/>
            </p:nvSpPr>
            <p:spPr>
              <a:xfrm>
                <a:off x="8705850" y="2181225"/>
                <a:ext cx="495300" cy="495300"/>
              </a:xfrm>
              <a:prstGeom prst="ellipse">
                <a:avLst/>
              </a:prstGeom>
              <a:solidFill>
                <a:srgbClr val="FBBC04"/>
              </a:solidFill>
              <a:ln>
                <a:noFill/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8887654" y="23660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8174355" y="2759392"/>
                <a:ext cx="294300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生成 `design.md` / `dev.md`</a:t>
                </a: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9203055" y="2181225"/>
              <a:ext cx="4019538" cy="852487"/>
              <a:chOff x="9203055" y="2181225"/>
              <a:chExt cx="4019538" cy="852487"/>
            </a:xfrm>
          </p:grpSpPr>
          <p:sp>
            <p:nvSpPr>
              <p:cNvPr id="36" name="Ellipse 36"/>
              <p:cNvSpPr/>
              <p:nvPr/>
            </p:nvSpPr>
            <p:spPr>
              <a:xfrm>
                <a:off x="9848850" y="2181225"/>
                <a:ext cx="495300" cy="495300"/>
              </a:xfrm>
              <a:prstGeom prst="ellipse">
                <a:avLst/>
              </a:prstGeom>
              <a:solidFill>
                <a:srgbClr val="34A853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10030654" y="2366010"/>
                <a:ext cx="13169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3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203055" y="2759392"/>
                <a:ext cx="4019538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生成 `plan.md` + `test.md` + `ops.md`</a:t>
                </a: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6572250" y="3429000"/>
              <a:ext cx="7706335" cy="1428750"/>
              <a:chOff x="6572250" y="3429000"/>
              <a:chExt cx="7706335" cy="1428750"/>
            </a:xfrm>
          </p:grpSpPr>
          <p:sp>
            <p:nvSpPr>
              <p:cNvPr id="40" name="Rectangle 40"/>
              <p:cNvSpPr/>
              <p:nvPr/>
            </p:nvSpPr>
            <p:spPr>
              <a:xfrm>
                <a:off x="6572250" y="3429000"/>
                <a:ext cx="4381500" cy="1428750"/>
              </a:xfrm>
              <a:prstGeom prst="roundRect">
                <a:avLst>
                  <a:gd name="adj" fmla="val 12000"/>
                </a:avLst>
              </a:prstGeom>
              <a:solidFill>
                <a:srgbClr val="F8F9FA"/>
              </a:solidFill>
              <a:ln w="9525">
                <a:solidFill>
                  <a:srgbClr val="E8EAED"/>
                </a:solidFill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6835140" y="3634740"/>
                <a:ext cx="7443445" cy="3657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800" b="1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阶段 4：更新 `CHANGELOG.md`、`CLAUDE.md` 和版本索引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841808" y="4072414"/>
                <a:ext cx="394287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带确认门禁、文档边界、版本治理和验证闭环，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841808" y="4329589"/>
                <a:ext cx="328181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让 AI 沿着明确规格参与完整开发流程。</a:t>
                </a:r>
              </a:p>
            </p:txBody>
          </p:sp>
        </p:grpSp>
      </p:grpSp>
      <p:grpSp>
        <p:nvGrpSpPr>
          <p:cNvPr id="51" name="Group 51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46" name="Ellipse 46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52" name="TextBox 52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5305" y="511492"/>
            <a:ext cx="8638661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从痛点到机制：spec-workflow 的解决路径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1089660"/>
            <a:ext cx="3816096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spec-workflow 的价值在于把痛点转化为机制。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571500" y="1476375"/>
            <a:ext cx="11049000" cy="4476750"/>
            <a:chOff x="571500" y="1476375"/>
            <a:chExt cx="11049000" cy="4476750"/>
          </a:xfrm>
        </p:grpSpPr>
        <p:sp>
          <p:nvSpPr>
            <p:cNvPr id="7" name="Rectangle 7"/>
            <p:cNvSpPr/>
            <p:nvPr/>
          </p:nvSpPr>
          <p:spPr>
            <a:xfrm>
              <a:off x="571500" y="1476375"/>
              <a:ext cx="11049000" cy="4476750"/>
            </a:xfrm>
            <a:prstGeom prst="roundRect">
              <a:avLst>
                <a:gd name="adj" fmla="val 3830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71500" y="1476375"/>
            <a:ext cx="11049000" cy="552450"/>
            <a:chOff x="571500" y="1476375"/>
            <a:chExt cx="11049000" cy="552450"/>
          </a:xfrm>
        </p:grpSpPr>
        <p:sp>
          <p:nvSpPr>
            <p:cNvPr id="9" name="Rectangle 9"/>
            <p:cNvSpPr/>
            <p:nvPr/>
          </p:nvSpPr>
          <p:spPr>
            <a:xfrm>
              <a:off x="571500" y="1476375"/>
              <a:ext cx="3048000" cy="552450"/>
            </a:xfrm>
            <a:prstGeom prst="roundRect">
              <a:avLst>
                <a:gd name="adj" fmla="val 31034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619500" y="1476375"/>
              <a:ext cx="4000500" cy="5524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0" y="1476375"/>
              <a:ext cx="4000500" cy="552450"/>
            </a:xfrm>
            <a:prstGeom prst="roundRect">
              <a:avLst>
                <a:gd name="adj" fmla="val 31034"/>
              </a:avLst>
            </a:prstGeom>
            <a:solidFill>
              <a:srgbClr val="E6F4E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52192" y="1660208"/>
              <a:ext cx="168661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AI Coding 痛点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257727" y="1660208"/>
              <a:ext cx="272404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spec-workflow 的机制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346263" y="1660208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结果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71500" y="1476375"/>
            <a:ext cx="11049000" cy="4476750"/>
            <a:chOff x="571500" y="1476375"/>
            <a:chExt cx="11049000" cy="4476750"/>
          </a:xfrm>
        </p:grpSpPr>
        <p:sp>
          <p:nvSpPr>
            <p:cNvPr id="16" name="Line 16"/>
            <p:cNvSpPr/>
            <p:nvPr/>
          </p:nvSpPr>
          <p:spPr>
            <a:xfrm>
              <a:off x="571500" y="25812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71500" y="31337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71500" y="36861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42386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" y="479107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71500" y="5343525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3619500" y="14763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620000" y="1476375"/>
              <a:ext cx="9525" cy="4476750"/>
            </a:xfrm>
            <a:custGeom>
              <a:avLst/>
              <a:gdLst/>
              <a:ahLst/>
              <a:cxnLst/>
              <a:rect l="l" t="t" r="r" b="b"/>
              <a:pathLst>
                <a:path w="9525" h="4476750">
                  <a:moveTo>
                    <a:pt x="0" y="0"/>
                  </a:moveTo>
                  <a:lnTo>
                    <a:pt x="0" y="447675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46760" y="2232660"/>
            <a:ext cx="9208389" cy="3558540"/>
            <a:chOff x="746760" y="2232660"/>
            <a:chExt cx="9208389" cy="3558540"/>
          </a:xfrm>
        </p:grpSpPr>
        <p:sp>
          <p:nvSpPr>
            <p:cNvPr id="25" name="TextBox 25"/>
            <p:cNvSpPr txBox="1"/>
            <p:nvPr/>
          </p:nvSpPr>
          <p:spPr>
            <a:xfrm>
              <a:off x="746760" y="223266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需求零散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794760" y="2232660"/>
              <a:ext cx="17392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需求澄清 + `prd.md`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795260" y="22326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把想法变成可确认需求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46760" y="278511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上下文不稳定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794760" y="2785110"/>
              <a:ext cx="22037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版本化文档 + `CLAUDE.md`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795260" y="2785110"/>
              <a:ext cx="21598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AI 和团队共享同一套上下文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6760" y="3337560"/>
              <a:ext cx="9330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AI 自行脑补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794760" y="3337560"/>
              <a:ext cx="2308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优先级、验收标准、不做范围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795260" y="33375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减少偏航和过度实现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46760" y="389001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技术方案脱离项目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794760" y="3890010"/>
              <a:ext cx="21686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生成 `dev.md` 前审查仓库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95260" y="389001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方案贴合真实代码结构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6760" y="444246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测试滞后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794760" y="4442460"/>
              <a:ext cx="27645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`test.md` + PRD ↔ Code 双向验证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795260" y="44424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从需求到测试形成闭环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46760" y="49949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上线风险高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94760" y="4994910"/>
              <a:ext cx="229133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`ops.md` + 回滚 + 监控告警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795260" y="499491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上线、运维、排障有依据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46760" y="554736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版本难追溯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94760" y="5547360"/>
              <a:ext cx="30800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语义化版本 + `CHANGELOG.md` + 索引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795260" y="554736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版本变化可审计、可回溯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47" name="Ellipse 47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49" name="Ellipse 49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50" name="Ellipse 50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51" name="Ellipse 51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53" name="TextBox 5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4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527685"/>
            <a:ext cx="917771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任何角色拉下仓库，都能基于文档完成自己的工作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1089660"/>
            <a:ext cx="33867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同一套版本化文档，既服务人，也服务 AI。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571500" y="1524000"/>
            <a:ext cx="3589782" cy="1428750"/>
            <a:chOff x="571500" y="1524000"/>
            <a:chExt cx="3589782" cy="142875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3429000" cy="1428750"/>
            </a:xfrm>
            <a:prstGeom prst="roundRect">
              <a:avLst>
                <a:gd name="adj" fmla="val 12000"/>
              </a:avLst>
            </a:prstGeom>
            <a:solidFill>
              <a:srgbClr val="E8F0FE"/>
            </a:solidFill>
            <a:ln w="9525">
              <a:solidFill>
                <a:srgbClr val="E8EAED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825498" y="1774825"/>
              <a:ext cx="177805" cy="222250"/>
            </a:xfrm>
            <a:custGeom>
              <a:avLst/>
              <a:gdLst/>
              <a:ahLst/>
              <a:cxnLst/>
              <a:rect l="l" t="t" r="r" b="b"/>
              <a:pathLst>
                <a:path w="177805" h="222250">
                  <a:moveTo>
                    <a:pt x="155544" y="24114"/>
                  </a:moveTo>
                  <a:cubicBezTo>
                    <a:pt x="168883" y="28814"/>
                    <a:pt x="177805" y="41420"/>
                    <a:pt x="177802" y="55562"/>
                  </a:cubicBezTo>
                  <a:lnTo>
                    <a:pt x="177802" y="188912"/>
                  </a:lnTo>
                  <a:cubicBezTo>
                    <a:pt x="177802" y="207324"/>
                    <a:pt x="162877" y="222250"/>
                    <a:pt x="144465" y="222250"/>
                  </a:cubicBezTo>
                  <a:lnTo>
                    <a:pt x="33340" y="222250"/>
                  </a:lnTo>
                  <a:cubicBezTo>
                    <a:pt x="14928" y="222250"/>
                    <a:pt x="2" y="207324"/>
                    <a:pt x="2" y="188912"/>
                  </a:cubicBezTo>
                  <a:lnTo>
                    <a:pt x="2" y="55562"/>
                  </a:lnTo>
                  <a:cubicBezTo>
                    <a:pt x="0" y="41420"/>
                    <a:pt x="8922" y="28814"/>
                    <a:pt x="22261" y="24114"/>
                  </a:cubicBezTo>
                  <a:cubicBezTo>
                    <a:pt x="23273" y="47910"/>
                    <a:pt x="42860" y="66679"/>
                    <a:pt x="66677" y="66675"/>
                  </a:cubicBezTo>
                  <a:lnTo>
                    <a:pt x="111127" y="66675"/>
                  </a:lnTo>
                  <a:cubicBezTo>
                    <a:pt x="133944" y="66677"/>
                    <a:pt x="153056" y="49404"/>
                    <a:pt x="155355" y="26703"/>
                  </a:cubicBezTo>
                  <a:close/>
                  <a:moveTo>
                    <a:pt x="55676" y="144462"/>
                  </a:moveTo>
                  <a:lnTo>
                    <a:pt x="55565" y="144462"/>
                  </a:lnTo>
                  <a:cubicBezTo>
                    <a:pt x="49685" y="144469"/>
                    <a:pt x="44828" y="149054"/>
                    <a:pt x="44484" y="154924"/>
                  </a:cubicBezTo>
                  <a:cubicBezTo>
                    <a:pt x="44139" y="160793"/>
                    <a:pt x="48426" y="165915"/>
                    <a:pt x="54265" y="166610"/>
                  </a:cubicBezTo>
                  <a:lnTo>
                    <a:pt x="55676" y="166688"/>
                  </a:lnTo>
                  <a:cubicBezTo>
                    <a:pt x="61813" y="166688"/>
                    <a:pt x="66789" y="161712"/>
                    <a:pt x="66789" y="155575"/>
                  </a:cubicBezTo>
                  <a:cubicBezTo>
                    <a:pt x="66789" y="149438"/>
                    <a:pt x="61813" y="144462"/>
                    <a:pt x="55676" y="144462"/>
                  </a:cubicBezTo>
                  <a:moveTo>
                    <a:pt x="122240" y="144462"/>
                  </a:moveTo>
                  <a:lnTo>
                    <a:pt x="100015" y="144462"/>
                  </a:lnTo>
                  <a:cubicBezTo>
                    <a:pt x="93878" y="144462"/>
                    <a:pt x="88902" y="149438"/>
                    <a:pt x="88902" y="155575"/>
                  </a:cubicBezTo>
                  <a:cubicBezTo>
                    <a:pt x="88902" y="161712"/>
                    <a:pt x="93878" y="166688"/>
                    <a:pt x="100015" y="166688"/>
                  </a:cubicBezTo>
                  <a:lnTo>
                    <a:pt x="122240" y="166688"/>
                  </a:lnTo>
                  <a:cubicBezTo>
                    <a:pt x="128377" y="166688"/>
                    <a:pt x="133352" y="161712"/>
                    <a:pt x="133352" y="155575"/>
                  </a:cubicBezTo>
                  <a:cubicBezTo>
                    <a:pt x="133352" y="149438"/>
                    <a:pt x="128377" y="144462"/>
                    <a:pt x="122240" y="144462"/>
                  </a:cubicBezTo>
                  <a:moveTo>
                    <a:pt x="55676" y="100012"/>
                  </a:moveTo>
                  <a:lnTo>
                    <a:pt x="55565" y="100012"/>
                  </a:lnTo>
                  <a:cubicBezTo>
                    <a:pt x="49685" y="100019"/>
                    <a:pt x="44828" y="104604"/>
                    <a:pt x="44484" y="110474"/>
                  </a:cubicBezTo>
                  <a:cubicBezTo>
                    <a:pt x="44139" y="116343"/>
                    <a:pt x="48426" y="121465"/>
                    <a:pt x="54265" y="122160"/>
                  </a:cubicBezTo>
                  <a:lnTo>
                    <a:pt x="55676" y="122237"/>
                  </a:lnTo>
                  <a:cubicBezTo>
                    <a:pt x="61813" y="122237"/>
                    <a:pt x="66789" y="117262"/>
                    <a:pt x="66789" y="111125"/>
                  </a:cubicBezTo>
                  <a:cubicBezTo>
                    <a:pt x="66789" y="104988"/>
                    <a:pt x="61813" y="100012"/>
                    <a:pt x="55676" y="100012"/>
                  </a:cubicBezTo>
                  <a:moveTo>
                    <a:pt x="122240" y="100012"/>
                  </a:moveTo>
                  <a:lnTo>
                    <a:pt x="100015" y="100012"/>
                  </a:lnTo>
                  <a:cubicBezTo>
                    <a:pt x="93878" y="100012"/>
                    <a:pt x="88902" y="104988"/>
                    <a:pt x="88902" y="111125"/>
                  </a:cubicBezTo>
                  <a:cubicBezTo>
                    <a:pt x="88902" y="117262"/>
                    <a:pt x="93878" y="122237"/>
                    <a:pt x="100015" y="122237"/>
                  </a:cubicBezTo>
                  <a:lnTo>
                    <a:pt x="122240" y="122237"/>
                  </a:lnTo>
                  <a:cubicBezTo>
                    <a:pt x="128377" y="122237"/>
                    <a:pt x="133352" y="117262"/>
                    <a:pt x="133352" y="111125"/>
                  </a:cubicBezTo>
                  <a:cubicBezTo>
                    <a:pt x="133352" y="104988"/>
                    <a:pt x="128377" y="100012"/>
                    <a:pt x="122240" y="100012"/>
                  </a:cubicBezTo>
                  <a:moveTo>
                    <a:pt x="111127" y="0"/>
                  </a:moveTo>
                  <a:cubicBezTo>
                    <a:pt x="123402" y="0"/>
                    <a:pt x="133352" y="9950"/>
                    <a:pt x="133352" y="22225"/>
                  </a:cubicBezTo>
                  <a:cubicBezTo>
                    <a:pt x="133352" y="34500"/>
                    <a:pt x="123402" y="44450"/>
                    <a:pt x="111127" y="44450"/>
                  </a:cubicBezTo>
                  <a:lnTo>
                    <a:pt x="66677" y="44450"/>
                  </a:lnTo>
                  <a:cubicBezTo>
                    <a:pt x="54403" y="44450"/>
                    <a:pt x="44452" y="34500"/>
                    <a:pt x="44452" y="22225"/>
                  </a:cubicBezTo>
                  <a:cubicBezTo>
                    <a:pt x="44452" y="9950"/>
                    <a:pt x="54403" y="0"/>
                    <a:pt x="66677" y="0"/>
                  </a:cubicBez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9190" y="1758315"/>
              <a:ext cx="114985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产品经理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65810" y="2175510"/>
              <a:ext cx="33954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通过 `prd.md` 看到版本目标、用户需求、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5810" y="2423160"/>
              <a:ext cx="24841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功能范围、优先级、验收标准。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381500" y="1524000"/>
            <a:ext cx="3835146" cy="1428750"/>
            <a:chOff x="4381500" y="1524000"/>
            <a:chExt cx="3835146" cy="1428750"/>
          </a:xfrm>
        </p:grpSpPr>
        <p:sp>
          <p:nvSpPr>
            <p:cNvPr id="13" name="Rectangle 13"/>
            <p:cNvSpPr/>
            <p:nvPr/>
          </p:nvSpPr>
          <p:spPr>
            <a:xfrm>
              <a:off x="4381500" y="1524000"/>
              <a:ext cx="3429000" cy="1428750"/>
            </a:xfrm>
            <a:prstGeom prst="roundRect">
              <a:avLst>
                <a:gd name="adj" fmla="val 12000"/>
              </a:avLst>
            </a:prstGeom>
            <a:solidFill>
              <a:srgbClr val="FDECEA"/>
            </a:solidFill>
            <a:ln w="9525">
              <a:solidFill>
                <a:srgbClr val="E8EAED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624388" y="1785938"/>
              <a:ext cx="200025" cy="200025"/>
            </a:xfrm>
            <a:custGeom>
              <a:avLst/>
              <a:gdLst/>
              <a:ahLst/>
              <a:cxnLst/>
              <a:rect l="l" t="t" r="r" b="b"/>
              <a:pathLst>
                <a:path w="200025" h="200025">
                  <a:moveTo>
                    <a:pt x="66675" y="0"/>
                  </a:moveTo>
                  <a:cubicBezTo>
                    <a:pt x="78950" y="0"/>
                    <a:pt x="88900" y="9950"/>
                    <a:pt x="88900" y="22225"/>
                  </a:cubicBezTo>
                  <a:lnTo>
                    <a:pt x="88900" y="88900"/>
                  </a:lnTo>
                  <a:cubicBezTo>
                    <a:pt x="88900" y="101175"/>
                    <a:pt x="78950" y="111125"/>
                    <a:pt x="66675" y="111125"/>
                  </a:cubicBezTo>
                  <a:lnTo>
                    <a:pt x="22225" y="111125"/>
                  </a:lnTo>
                  <a:cubicBezTo>
                    <a:pt x="9950" y="111125"/>
                    <a:pt x="0" y="101175"/>
                    <a:pt x="0" y="88900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  <a:close/>
                  <a:moveTo>
                    <a:pt x="66675" y="133350"/>
                  </a:moveTo>
                  <a:cubicBezTo>
                    <a:pt x="78950" y="133350"/>
                    <a:pt x="88900" y="143300"/>
                    <a:pt x="88900" y="155575"/>
                  </a:cubicBezTo>
                  <a:lnTo>
                    <a:pt x="88900" y="177800"/>
                  </a:lnTo>
                  <a:cubicBezTo>
                    <a:pt x="88900" y="190075"/>
                    <a:pt x="78950" y="200025"/>
                    <a:pt x="66675" y="200025"/>
                  </a:cubicBezTo>
                  <a:lnTo>
                    <a:pt x="22225" y="200025"/>
                  </a:lnTo>
                  <a:cubicBezTo>
                    <a:pt x="9950" y="200025"/>
                    <a:pt x="0" y="190075"/>
                    <a:pt x="0" y="177800"/>
                  </a:cubicBezTo>
                  <a:lnTo>
                    <a:pt x="0" y="155575"/>
                  </a:lnTo>
                  <a:cubicBezTo>
                    <a:pt x="0" y="143300"/>
                    <a:pt x="9950" y="133350"/>
                    <a:pt x="22225" y="133350"/>
                  </a:cubicBezTo>
                  <a:close/>
                  <a:moveTo>
                    <a:pt x="177800" y="88900"/>
                  </a:moveTo>
                  <a:cubicBezTo>
                    <a:pt x="190075" y="88900"/>
                    <a:pt x="200025" y="98850"/>
                    <a:pt x="200025" y="111125"/>
                  </a:cubicBezTo>
                  <a:lnTo>
                    <a:pt x="200025" y="177800"/>
                  </a:lnTo>
                  <a:cubicBezTo>
                    <a:pt x="200025" y="190075"/>
                    <a:pt x="190075" y="200025"/>
                    <a:pt x="177800" y="200025"/>
                  </a:cubicBezTo>
                  <a:lnTo>
                    <a:pt x="133350" y="200025"/>
                  </a:lnTo>
                  <a:cubicBezTo>
                    <a:pt x="121075" y="200025"/>
                    <a:pt x="111125" y="190075"/>
                    <a:pt x="111125" y="177800"/>
                  </a:cubicBezTo>
                  <a:lnTo>
                    <a:pt x="111125" y="111125"/>
                  </a:lnTo>
                  <a:cubicBezTo>
                    <a:pt x="111125" y="98850"/>
                    <a:pt x="121075" y="88900"/>
                    <a:pt x="133350" y="88900"/>
                  </a:cubicBezTo>
                  <a:close/>
                  <a:moveTo>
                    <a:pt x="177800" y="0"/>
                  </a:moveTo>
                  <a:cubicBezTo>
                    <a:pt x="190075" y="0"/>
                    <a:pt x="200025" y="9950"/>
                    <a:pt x="200025" y="22225"/>
                  </a:cubicBezTo>
                  <a:lnTo>
                    <a:pt x="200025" y="44450"/>
                  </a:lnTo>
                  <a:cubicBezTo>
                    <a:pt x="200025" y="56725"/>
                    <a:pt x="190075" y="66675"/>
                    <a:pt x="177800" y="66675"/>
                  </a:cubicBezTo>
                  <a:lnTo>
                    <a:pt x="133350" y="66675"/>
                  </a:lnTo>
                  <a:cubicBezTo>
                    <a:pt x="121075" y="66675"/>
                    <a:pt x="111125" y="56725"/>
                    <a:pt x="111125" y="44450"/>
                  </a:cubicBezTo>
                  <a:lnTo>
                    <a:pt x="111125" y="22225"/>
                  </a:lnTo>
                  <a:cubicBezTo>
                    <a:pt x="111125" y="9950"/>
                    <a:pt x="121075" y="0"/>
                    <a:pt x="133350" y="0"/>
                  </a:cubicBezTo>
                  <a:close/>
                </a:path>
              </a:pathLst>
            </a:custGeom>
            <a:solidFill>
              <a:srgbClr val="EA433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4949190" y="175831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前端工程师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575810" y="2175510"/>
              <a:ext cx="36408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通过 `design.md` 看到页面结构、交互流程、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575810" y="2423160"/>
              <a:ext cx="17830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组件拆分、界面约束。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8191500" y="1524000"/>
            <a:ext cx="3589782" cy="1428750"/>
            <a:chOff x="8191500" y="1524000"/>
            <a:chExt cx="3589782" cy="1428750"/>
          </a:xfrm>
        </p:grpSpPr>
        <p:sp>
          <p:nvSpPr>
            <p:cNvPr id="19" name="Rectangle 19"/>
            <p:cNvSpPr/>
            <p:nvPr/>
          </p:nvSpPr>
          <p:spPr>
            <a:xfrm>
              <a:off x="8191500" y="1524000"/>
              <a:ext cx="3429000" cy="1428750"/>
            </a:xfrm>
            <a:prstGeom prst="roundRect">
              <a:avLst>
                <a:gd name="adj" fmla="val 12000"/>
              </a:avLst>
            </a:prstGeom>
            <a:solidFill>
              <a:srgbClr val="FEF7E0"/>
            </a:solidFill>
            <a:ln w="9525">
              <a:solidFill>
                <a:srgbClr val="E8EAED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8445499" y="1774825"/>
              <a:ext cx="177802" cy="222251"/>
              <a:chOff x="8445499" y="1774825"/>
              <a:chExt cx="177802" cy="22225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445499" y="1774825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2"/>
                    </a:lnTo>
                    <a:lnTo>
                      <a:pt x="100013" y="55562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7"/>
                    </a:lnTo>
                    <a:lnTo>
                      <a:pt x="166688" y="77787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2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122238" y="155575"/>
                    </a:moveTo>
                    <a:lnTo>
                      <a:pt x="55563" y="155575"/>
                    </a:lnTo>
                    <a:cubicBezTo>
                      <a:pt x="49426" y="155575"/>
                      <a:pt x="44451" y="160550"/>
                      <a:pt x="44451" y="166688"/>
                    </a:cubicBezTo>
                    <a:cubicBezTo>
                      <a:pt x="44451" y="172825"/>
                      <a:pt x="49426" y="177800"/>
                      <a:pt x="55563" y="177800"/>
                    </a:cubicBezTo>
                    <a:lnTo>
                      <a:pt x="122238" y="177800"/>
                    </a:lnTo>
                    <a:cubicBezTo>
                      <a:pt x="128376" y="177800"/>
                      <a:pt x="133351" y="172825"/>
                      <a:pt x="133351" y="166688"/>
                    </a:cubicBezTo>
                    <a:cubicBezTo>
                      <a:pt x="133351" y="160550"/>
                      <a:pt x="128376" y="155575"/>
                      <a:pt x="122238" y="155575"/>
                    </a:cubicBezTo>
                    <a:moveTo>
                      <a:pt x="122238" y="111125"/>
                    </a:moveTo>
                    <a:lnTo>
                      <a:pt x="55563" y="111125"/>
                    </a:lnTo>
                    <a:cubicBezTo>
                      <a:pt x="49426" y="111125"/>
                      <a:pt x="44451" y="116100"/>
                      <a:pt x="44451" y="122237"/>
                    </a:cubicBezTo>
                    <a:cubicBezTo>
                      <a:pt x="44451" y="128375"/>
                      <a:pt x="49426" y="133350"/>
                      <a:pt x="55563" y="133350"/>
                    </a:cubicBezTo>
                    <a:lnTo>
                      <a:pt x="122238" y="133350"/>
                    </a:lnTo>
                    <a:cubicBezTo>
                      <a:pt x="128376" y="133350"/>
                      <a:pt x="133351" y="128375"/>
                      <a:pt x="133351" y="122237"/>
                    </a:cubicBezTo>
                    <a:cubicBezTo>
                      <a:pt x="133351" y="116100"/>
                      <a:pt x="128376" y="111125"/>
                      <a:pt x="122238" y="111125"/>
                    </a:cubicBezTo>
                  </a:path>
                </a:pathLst>
              </a:custGeom>
              <a:solidFill>
                <a:srgbClr val="FBBC04"/>
              </a:solidFill>
              <a:ln>
                <a:noFill/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8567726" y="1785926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BBC04"/>
              </a:solidFill>
              <a:ln>
                <a:noFill/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8759190" y="175831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后端工程师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85810" y="2175510"/>
              <a:ext cx="33954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通过 `dev.md` 看到架构方案、数据模型、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85810" y="2423160"/>
              <a:ext cx="31851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接口影响清单、文件范围、数据库脚本。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71500" y="3333750"/>
            <a:ext cx="3686175" cy="1428750"/>
            <a:chOff x="571500" y="3333750"/>
            <a:chExt cx="3686175" cy="1428750"/>
          </a:xfrm>
        </p:grpSpPr>
        <p:sp>
          <p:nvSpPr>
            <p:cNvPr id="27" name="Rectangle 27"/>
            <p:cNvSpPr/>
            <p:nvPr/>
          </p:nvSpPr>
          <p:spPr>
            <a:xfrm>
              <a:off x="571500" y="3333750"/>
              <a:ext cx="3429000" cy="1428750"/>
            </a:xfrm>
            <a:prstGeom prst="roundRect">
              <a:avLst>
                <a:gd name="adj" fmla="val 12000"/>
              </a:avLst>
            </a:prstGeom>
            <a:solidFill>
              <a:srgbClr val="E6F4EA"/>
            </a:solidFill>
            <a:ln w="9525">
              <a:solidFill>
                <a:srgbClr val="E8EAED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07876" y="3600162"/>
              <a:ext cx="206536" cy="185521"/>
              <a:chOff x="807876" y="3600162"/>
              <a:chExt cx="206536" cy="185521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807876" y="3600162"/>
                <a:ext cx="68713" cy="52171"/>
              </a:xfrm>
              <a:custGeom>
                <a:avLst/>
                <a:gdLst/>
                <a:ahLst/>
                <a:cxnLst/>
                <a:rect l="l" t="t" r="r" b="b"/>
                <a:pathLst>
                  <a:path w="68713" h="52171">
                    <a:moveTo>
                      <a:pt x="64374" y="4338"/>
                    </a:moveTo>
                    <a:cubicBezTo>
                      <a:pt x="68713" y="8678"/>
                      <a:pt x="68713" y="15712"/>
                      <a:pt x="64374" y="20051"/>
                    </a:cubicBezTo>
                    <a:lnTo>
                      <a:pt x="36593" y="47832"/>
                    </a:lnTo>
                    <a:cubicBezTo>
                      <a:pt x="32254" y="52171"/>
                      <a:pt x="25220" y="52171"/>
                      <a:pt x="20880" y="47832"/>
                    </a:cubicBezTo>
                    <a:lnTo>
                      <a:pt x="4211" y="31164"/>
                    </a:lnTo>
                    <a:cubicBezTo>
                      <a:pt x="0" y="26803"/>
                      <a:pt x="60" y="19872"/>
                      <a:pt x="4347" y="15586"/>
                    </a:cubicBezTo>
                    <a:cubicBezTo>
                      <a:pt x="8633" y="11300"/>
                      <a:pt x="15564" y="11239"/>
                      <a:pt x="19924" y="15451"/>
                    </a:cubicBezTo>
                    <a:lnTo>
                      <a:pt x="28737" y="24263"/>
                    </a:lnTo>
                    <a:lnTo>
                      <a:pt x="48661" y="4338"/>
                    </a:lnTo>
                    <a:cubicBezTo>
                      <a:pt x="53001" y="0"/>
                      <a:pt x="60035" y="0"/>
                      <a:pt x="64374" y="4338"/>
                    </a:cubicBezTo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07876" y="3666837"/>
                <a:ext cx="68713" cy="52171"/>
              </a:xfrm>
              <a:custGeom>
                <a:avLst/>
                <a:gdLst/>
                <a:ahLst/>
                <a:cxnLst/>
                <a:rect l="l" t="t" r="r" b="b"/>
                <a:pathLst>
                  <a:path w="68713" h="52171">
                    <a:moveTo>
                      <a:pt x="64374" y="4338"/>
                    </a:moveTo>
                    <a:cubicBezTo>
                      <a:pt x="68713" y="8678"/>
                      <a:pt x="68713" y="15712"/>
                      <a:pt x="64374" y="20051"/>
                    </a:cubicBezTo>
                    <a:lnTo>
                      <a:pt x="36593" y="47832"/>
                    </a:lnTo>
                    <a:cubicBezTo>
                      <a:pt x="32254" y="52171"/>
                      <a:pt x="25220" y="52171"/>
                      <a:pt x="20880" y="47832"/>
                    </a:cubicBezTo>
                    <a:lnTo>
                      <a:pt x="4211" y="31164"/>
                    </a:lnTo>
                    <a:cubicBezTo>
                      <a:pt x="0" y="26803"/>
                      <a:pt x="60" y="19872"/>
                      <a:pt x="4347" y="15586"/>
                    </a:cubicBezTo>
                    <a:cubicBezTo>
                      <a:pt x="8633" y="11300"/>
                      <a:pt x="15564" y="11239"/>
                      <a:pt x="19924" y="15451"/>
                    </a:cubicBezTo>
                    <a:lnTo>
                      <a:pt x="28737" y="24263"/>
                    </a:lnTo>
                    <a:lnTo>
                      <a:pt x="48661" y="4338"/>
                    </a:lnTo>
                    <a:cubicBezTo>
                      <a:pt x="53001" y="0"/>
                      <a:pt x="60035" y="0"/>
                      <a:pt x="64374" y="4338"/>
                    </a:cubicBezTo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07876" y="3733512"/>
                <a:ext cx="68713" cy="52171"/>
              </a:xfrm>
              <a:custGeom>
                <a:avLst/>
                <a:gdLst/>
                <a:ahLst/>
                <a:cxnLst/>
                <a:rect l="l" t="t" r="r" b="b"/>
                <a:pathLst>
                  <a:path w="68713" h="52171">
                    <a:moveTo>
                      <a:pt x="64374" y="4338"/>
                    </a:moveTo>
                    <a:cubicBezTo>
                      <a:pt x="68713" y="8678"/>
                      <a:pt x="68713" y="15712"/>
                      <a:pt x="64374" y="20051"/>
                    </a:cubicBezTo>
                    <a:lnTo>
                      <a:pt x="36593" y="47832"/>
                    </a:lnTo>
                    <a:cubicBezTo>
                      <a:pt x="32254" y="52171"/>
                      <a:pt x="25220" y="52171"/>
                      <a:pt x="20880" y="47832"/>
                    </a:cubicBezTo>
                    <a:lnTo>
                      <a:pt x="4211" y="31164"/>
                    </a:lnTo>
                    <a:cubicBezTo>
                      <a:pt x="0" y="26803"/>
                      <a:pt x="60" y="19872"/>
                      <a:pt x="4347" y="15586"/>
                    </a:cubicBezTo>
                    <a:cubicBezTo>
                      <a:pt x="8633" y="11300"/>
                      <a:pt x="15564" y="11239"/>
                      <a:pt x="19924" y="15451"/>
                    </a:cubicBezTo>
                    <a:lnTo>
                      <a:pt x="28737" y="24263"/>
                    </a:lnTo>
                    <a:lnTo>
                      <a:pt x="48661" y="4338"/>
                    </a:lnTo>
                    <a:cubicBezTo>
                      <a:pt x="53001" y="0"/>
                      <a:pt x="60035" y="0"/>
                      <a:pt x="64374" y="4338"/>
                    </a:cubicBezTo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892175" y="3617912"/>
                <a:ext cx="122237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22225">
                    <a:moveTo>
                      <a:pt x="122237" y="11113"/>
                    </a:moveTo>
                    <a:cubicBezTo>
                      <a:pt x="122237" y="17250"/>
                      <a:pt x="117262" y="22225"/>
                      <a:pt x="111125" y="22225"/>
                    </a:cubicBezTo>
                    <a:lnTo>
                      <a:pt x="11112" y="22225"/>
                    </a:lnTo>
                    <a:cubicBezTo>
                      <a:pt x="4975" y="22225"/>
                      <a:pt x="0" y="17250"/>
                      <a:pt x="0" y="11113"/>
                    </a:cubicBezTo>
                    <a:cubicBezTo>
                      <a:pt x="0" y="4975"/>
                      <a:pt x="4975" y="0"/>
                      <a:pt x="11112" y="0"/>
                    </a:cubicBezTo>
                    <a:lnTo>
                      <a:pt x="111125" y="0"/>
                    </a:lnTo>
                    <a:cubicBezTo>
                      <a:pt x="117262" y="0"/>
                      <a:pt x="122237" y="4975"/>
                      <a:pt x="122237" y="11113"/>
                    </a:cubicBezTo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892175" y="3684588"/>
                <a:ext cx="122237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22225">
                    <a:moveTo>
                      <a:pt x="122237" y="11113"/>
                    </a:moveTo>
                    <a:cubicBezTo>
                      <a:pt x="122237" y="17250"/>
                      <a:pt x="117262" y="22225"/>
                      <a:pt x="111125" y="22225"/>
                    </a:cubicBezTo>
                    <a:lnTo>
                      <a:pt x="11112" y="22225"/>
                    </a:lnTo>
                    <a:cubicBezTo>
                      <a:pt x="4975" y="22225"/>
                      <a:pt x="0" y="17250"/>
                      <a:pt x="0" y="11113"/>
                    </a:cubicBezTo>
                    <a:cubicBezTo>
                      <a:pt x="0" y="4975"/>
                      <a:pt x="4975" y="0"/>
                      <a:pt x="11112" y="0"/>
                    </a:cubicBezTo>
                    <a:lnTo>
                      <a:pt x="111125" y="0"/>
                    </a:lnTo>
                    <a:cubicBezTo>
                      <a:pt x="117262" y="0"/>
                      <a:pt x="122237" y="4975"/>
                      <a:pt x="122237" y="11113"/>
                    </a:cubicBezTo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92175" y="3751262"/>
                <a:ext cx="122237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122237" h="22225">
                    <a:moveTo>
                      <a:pt x="122237" y="11113"/>
                    </a:moveTo>
                    <a:cubicBezTo>
                      <a:pt x="122237" y="17250"/>
                      <a:pt x="117262" y="22225"/>
                      <a:pt x="111125" y="22225"/>
                    </a:cubicBezTo>
                    <a:lnTo>
                      <a:pt x="11112" y="22225"/>
                    </a:lnTo>
                    <a:cubicBezTo>
                      <a:pt x="4975" y="22225"/>
                      <a:pt x="0" y="17250"/>
                      <a:pt x="0" y="11113"/>
                    </a:cubicBezTo>
                    <a:cubicBezTo>
                      <a:pt x="0" y="4975"/>
                      <a:pt x="4975" y="0"/>
                      <a:pt x="11112" y="0"/>
                    </a:cubicBezTo>
                    <a:lnTo>
                      <a:pt x="111125" y="0"/>
                    </a:lnTo>
                    <a:cubicBezTo>
                      <a:pt x="117262" y="0"/>
                      <a:pt x="122237" y="4975"/>
                      <a:pt x="122237" y="11113"/>
                    </a:cubicBezTo>
                  </a:path>
                </a:pathLst>
              </a:custGeom>
              <a:solidFill>
                <a:srgbClr val="34A853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139190" y="3568065"/>
              <a:ext cx="142589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测试工程师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65810" y="3985260"/>
              <a:ext cx="349186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通过 `test.md` 看到测试策略、测试用例、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65810" y="4232910"/>
              <a:ext cx="28346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集成场景、静态扫描和部署前检查。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381500" y="3333750"/>
            <a:ext cx="3589782" cy="1428750"/>
            <a:chOff x="4381500" y="3333750"/>
            <a:chExt cx="3589782" cy="1428750"/>
          </a:xfrm>
        </p:grpSpPr>
        <p:sp>
          <p:nvSpPr>
            <p:cNvPr id="39" name="Rectangle 39"/>
            <p:cNvSpPr/>
            <p:nvPr/>
          </p:nvSpPr>
          <p:spPr>
            <a:xfrm>
              <a:off x="4381500" y="3333750"/>
              <a:ext cx="3429000" cy="1428750"/>
            </a:xfrm>
            <a:prstGeom prst="roundRect">
              <a:avLst>
                <a:gd name="adj" fmla="val 12000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4605563" y="3576863"/>
              <a:ext cx="237674" cy="237674"/>
            </a:xfrm>
            <a:custGeom>
              <a:avLst/>
              <a:gdLst/>
              <a:ahLst/>
              <a:cxnLst/>
              <a:rect l="l" t="t" r="r" b="b"/>
              <a:pathLst>
                <a:path w="237674" h="237674">
                  <a:moveTo>
                    <a:pt x="148252" y="30837"/>
                  </a:moveTo>
                  <a:cubicBezTo>
                    <a:pt x="148857" y="33333"/>
                    <a:pt x="150616" y="35390"/>
                    <a:pt x="152988" y="36374"/>
                  </a:cubicBezTo>
                  <a:cubicBezTo>
                    <a:pt x="155360" y="37358"/>
                    <a:pt x="158060" y="37151"/>
                    <a:pt x="160253" y="35816"/>
                  </a:cubicBezTo>
                  <a:cubicBezTo>
                    <a:pt x="187357" y="19314"/>
                    <a:pt x="218372" y="50317"/>
                    <a:pt x="201870" y="77421"/>
                  </a:cubicBezTo>
                  <a:cubicBezTo>
                    <a:pt x="200535" y="79613"/>
                    <a:pt x="200326" y="82311"/>
                    <a:pt x="201307" y="84682"/>
                  </a:cubicBezTo>
                  <a:cubicBezTo>
                    <a:pt x="202289" y="87054"/>
                    <a:pt x="204343" y="88815"/>
                    <a:pt x="206837" y="89422"/>
                  </a:cubicBezTo>
                  <a:cubicBezTo>
                    <a:pt x="237674" y="96901"/>
                    <a:pt x="237674" y="140762"/>
                    <a:pt x="206837" y="148252"/>
                  </a:cubicBezTo>
                  <a:cubicBezTo>
                    <a:pt x="204341" y="148857"/>
                    <a:pt x="202284" y="150616"/>
                    <a:pt x="201300" y="152988"/>
                  </a:cubicBezTo>
                  <a:cubicBezTo>
                    <a:pt x="200316" y="155360"/>
                    <a:pt x="200524" y="158060"/>
                    <a:pt x="201859" y="160253"/>
                  </a:cubicBezTo>
                  <a:cubicBezTo>
                    <a:pt x="218361" y="187357"/>
                    <a:pt x="187357" y="218372"/>
                    <a:pt x="160253" y="201870"/>
                  </a:cubicBezTo>
                  <a:cubicBezTo>
                    <a:pt x="158061" y="200535"/>
                    <a:pt x="155364" y="200326"/>
                    <a:pt x="152992" y="201307"/>
                  </a:cubicBezTo>
                  <a:cubicBezTo>
                    <a:pt x="150620" y="202289"/>
                    <a:pt x="148859" y="204343"/>
                    <a:pt x="148252" y="206837"/>
                  </a:cubicBezTo>
                  <a:cubicBezTo>
                    <a:pt x="140773" y="237674"/>
                    <a:pt x="96912" y="237674"/>
                    <a:pt x="89422" y="206837"/>
                  </a:cubicBezTo>
                  <a:cubicBezTo>
                    <a:pt x="88818" y="204341"/>
                    <a:pt x="87058" y="202284"/>
                    <a:pt x="84686" y="201300"/>
                  </a:cubicBezTo>
                  <a:cubicBezTo>
                    <a:pt x="82314" y="200316"/>
                    <a:pt x="79615" y="200524"/>
                    <a:pt x="77421" y="201859"/>
                  </a:cubicBezTo>
                  <a:cubicBezTo>
                    <a:pt x="50317" y="218361"/>
                    <a:pt x="19302" y="187357"/>
                    <a:pt x="35804" y="160253"/>
                  </a:cubicBezTo>
                  <a:cubicBezTo>
                    <a:pt x="37139" y="158061"/>
                    <a:pt x="37348" y="155364"/>
                    <a:pt x="36367" y="152992"/>
                  </a:cubicBezTo>
                  <a:cubicBezTo>
                    <a:pt x="35385" y="150620"/>
                    <a:pt x="33331" y="148859"/>
                    <a:pt x="30837" y="148252"/>
                  </a:cubicBezTo>
                  <a:cubicBezTo>
                    <a:pt x="0" y="140773"/>
                    <a:pt x="0" y="96912"/>
                    <a:pt x="30837" y="89422"/>
                  </a:cubicBezTo>
                  <a:cubicBezTo>
                    <a:pt x="33333" y="88818"/>
                    <a:pt x="35390" y="87058"/>
                    <a:pt x="36374" y="84686"/>
                  </a:cubicBezTo>
                  <a:cubicBezTo>
                    <a:pt x="37358" y="82314"/>
                    <a:pt x="37151" y="79615"/>
                    <a:pt x="35816" y="77421"/>
                  </a:cubicBezTo>
                  <a:cubicBezTo>
                    <a:pt x="19314" y="50317"/>
                    <a:pt x="50317" y="19302"/>
                    <a:pt x="77421" y="35804"/>
                  </a:cubicBezTo>
                  <a:cubicBezTo>
                    <a:pt x="79611" y="37150"/>
                    <a:pt x="82313" y="37364"/>
                    <a:pt x="84688" y="36381"/>
                  </a:cubicBezTo>
                  <a:cubicBezTo>
                    <a:pt x="87063" y="35398"/>
                    <a:pt x="88823" y="33337"/>
                    <a:pt x="89422" y="30837"/>
                  </a:cubicBezTo>
                  <a:cubicBezTo>
                    <a:pt x="96901" y="0"/>
                    <a:pt x="140762" y="0"/>
                    <a:pt x="148252" y="30837"/>
                  </a:cubicBezTo>
                  <a:close/>
                  <a:moveTo>
                    <a:pt x="118837" y="85500"/>
                  </a:moveTo>
                  <a:cubicBezTo>
                    <a:pt x="100425" y="85500"/>
                    <a:pt x="85500" y="100425"/>
                    <a:pt x="85500" y="118837"/>
                  </a:cubicBezTo>
                  <a:cubicBezTo>
                    <a:pt x="85500" y="137249"/>
                    <a:pt x="100425" y="152175"/>
                    <a:pt x="118837" y="152175"/>
                  </a:cubicBezTo>
                  <a:cubicBezTo>
                    <a:pt x="137249" y="152175"/>
                    <a:pt x="152175" y="137249"/>
                    <a:pt x="152175" y="118837"/>
                  </a:cubicBezTo>
                  <a:cubicBezTo>
                    <a:pt x="152175" y="100425"/>
                    <a:pt x="137249" y="85500"/>
                    <a:pt x="118837" y="85500"/>
                  </a:cubicBezTo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949190" y="3568065"/>
              <a:ext cx="188134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运维 / DevOps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575810" y="3985260"/>
              <a:ext cx="33954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通过 `ops.md` 看到环境变量、部署步骤、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575810" y="4232910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监控告警、故障排查和回滚方案。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8191500" y="3333750"/>
            <a:ext cx="3429000" cy="1428750"/>
            <a:chOff x="8191500" y="3333750"/>
            <a:chExt cx="3429000" cy="1428750"/>
          </a:xfrm>
        </p:grpSpPr>
        <p:sp>
          <p:nvSpPr>
            <p:cNvPr id="45" name="Rectangle 45"/>
            <p:cNvSpPr/>
            <p:nvPr/>
          </p:nvSpPr>
          <p:spPr>
            <a:xfrm>
              <a:off x="8191500" y="3333750"/>
              <a:ext cx="3429000" cy="1428750"/>
            </a:xfrm>
            <a:prstGeom prst="roundRect">
              <a:avLst>
                <a:gd name="adj" fmla="val 12000"/>
              </a:avLst>
            </a:prstGeom>
            <a:solidFill>
              <a:srgbClr val="E8F0FE"/>
            </a:solidFill>
            <a:ln w="9525">
              <a:solidFill>
                <a:srgbClr val="E8EAED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445499" y="3584575"/>
              <a:ext cx="177802" cy="222251"/>
              <a:chOff x="8445499" y="3584575"/>
              <a:chExt cx="177802" cy="222251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445499" y="3584575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3"/>
                    </a:lnTo>
                    <a:lnTo>
                      <a:pt x="100013" y="55563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8"/>
                    </a:lnTo>
                    <a:lnTo>
                      <a:pt x="166688" y="77788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3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55563" y="111125"/>
                    </a:moveTo>
                    <a:cubicBezTo>
                      <a:pt x="49426" y="111125"/>
                      <a:pt x="44451" y="116100"/>
                      <a:pt x="44451" y="122238"/>
                    </a:cubicBezTo>
                    <a:lnTo>
                      <a:pt x="44451" y="177800"/>
                    </a:lnTo>
                    <a:cubicBezTo>
                      <a:pt x="44451" y="183937"/>
                      <a:pt x="49426" y="188913"/>
                      <a:pt x="55563" y="188913"/>
                    </a:cubicBezTo>
                    <a:cubicBezTo>
                      <a:pt x="61701" y="188913"/>
                      <a:pt x="66676" y="183937"/>
                      <a:pt x="66676" y="177800"/>
                    </a:cubicBezTo>
                    <a:lnTo>
                      <a:pt x="66676" y="122238"/>
                    </a:lnTo>
                    <a:cubicBezTo>
                      <a:pt x="66676" y="116100"/>
                      <a:pt x="61701" y="111125"/>
                      <a:pt x="55563" y="111125"/>
                    </a:cubicBezTo>
                    <a:moveTo>
                      <a:pt x="88901" y="155575"/>
                    </a:moveTo>
                    <a:cubicBezTo>
                      <a:pt x="82764" y="155575"/>
                      <a:pt x="77788" y="160550"/>
                      <a:pt x="77788" y="166688"/>
                    </a:cubicBezTo>
                    <a:lnTo>
                      <a:pt x="77788" y="177800"/>
                    </a:lnTo>
                    <a:cubicBezTo>
                      <a:pt x="77788" y="183937"/>
                      <a:pt x="82764" y="188913"/>
                      <a:pt x="88901" y="188913"/>
                    </a:cubicBezTo>
                    <a:cubicBezTo>
                      <a:pt x="95038" y="188913"/>
                      <a:pt x="100013" y="183937"/>
                      <a:pt x="100013" y="177800"/>
                    </a:cubicBezTo>
                    <a:lnTo>
                      <a:pt x="100013" y="166688"/>
                    </a:lnTo>
                    <a:cubicBezTo>
                      <a:pt x="100013" y="160550"/>
                      <a:pt x="95038" y="155575"/>
                      <a:pt x="88901" y="155575"/>
                    </a:cubicBezTo>
                    <a:moveTo>
                      <a:pt x="122238" y="133350"/>
                    </a:moveTo>
                    <a:cubicBezTo>
                      <a:pt x="116101" y="133350"/>
                      <a:pt x="111126" y="138325"/>
                      <a:pt x="111126" y="144463"/>
                    </a:cubicBezTo>
                    <a:lnTo>
                      <a:pt x="111126" y="177800"/>
                    </a:lnTo>
                    <a:cubicBezTo>
                      <a:pt x="111126" y="183937"/>
                      <a:pt x="116101" y="188913"/>
                      <a:pt x="122238" y="188913"/>
                    </a:cubicBezTo>
                    <a:cubicBezTo>
                      <a:pt x="128376" y="188913"/>
                      <a:pt x="133351" y="183937"/>
                      <a:pt x="133351" y="177800"/>
                    </a:cubicBezTo>
                    <a:lnTo>
                      <a:pt x="133351" y="144463"/>
                    </a:lnTo>
                    <a:cubicBezTo>
                      <a:pt x="133351" y="138325"/>
                      <a:pt x="128376" y="133350"/>
                      <a:pt x="122238" y="133350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567726" y="3595676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8759190" y="3568065"/>
              <a:ext cx="257143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技术负责人 / 管理者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385810" y="3985260"/>
              <a:ext cx="31325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通过 `CHANGELOG.md` 和版本索引看到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385810" y="4232910"/>
              <a:ext cx="30099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每个版本的目标、变更、风险和状态。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381250" y="5143500"/>
            <a:ext cx="11178921" cy="857250"/>
            <a:chOff x="2381250" y="5143500"/>
            <a:chExt cx="11178921" cy="857250"/>
          </a:xfrm>
        </p:grpSpPr>
        <p:sp>
          <p:nvSpPr>
            <p:cNvPr id="53" name="Rectangle 53"/>
            <p:cNvSpPr/>
            <p:nvPr/>
          </p:nvSpPr>
          <p:spPr>
            <a:xfrm>
              <a:off x="2381250" y="5143500"/>
              <a:ext cx="7429500" cy="857250"/>
            </a:xfrm>
            <a:prstGeom prst="roundRect">
              <a:avLst>
                <a:gd name="adj" fmla="val 20000"/>
              </a:avLst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54" name="Freeform 54"/>
            <p:cNvSpPr/>
            <p:nvPr/>
          </p:nvSpPr>
          <p:spPr>
            <a:xfrm>
              <a:off x="2689225" y="5443538"/>
              <a:ext cx="222250" cy="211657"/>
            </a:xfrm>
            <a:custGeom>
              <a:avLst/>
              <a:gdLst/>
              <a:ahLst/>
              <a:cxnLst/>
              <a:rect l="l" t="t" r="r" b="b"/>
              <a:pathLst>
                <a:path w="222250" h="211657">
                  <a:moveTo>
                    <a:pt x="177800" y="0"/>
                  </a:moveTo>
                  <a:cubicBezTo>
                    <a:pt x="202349" y="0"/>
                    <a:pt x="222250" y="19901"/>
                    <a:pt x="222250" y="44450"/>
                  </a:cubicBezTo>
                  <a:lnTo>
                    <a:pt x="222250" y="133350"/>
                  </a:lnTo>
                  <a:cubicBezTo>
                    <a:pt x="222250" y="157899"/>
                    <a:pt x="202349" y="177800"/>
                    <a:pt x="177800" y="177800"/>
                  </a:cubicBezTo>
                  <a:lnTo>
                    <a:pt x="125305" y="177800"/>
                  </a:lnTo>
                  <a:lnTo>
                    <a:pt x="72387" y="209548"/>
                  </a:lnTo>
                  <a:cubicBezTo>
                    <a:pt x="69149" y="211492"/>
                    <a:pt x="65145" y="211657"/>
                    <a:pt x="61757" y="209988"/>
                  </a:cubicBezTo>
                  <a:cubicBezTo>
                    <a:pt x="58370" y="208319"/>
                    <a:pt x="56061" y="205044"/>
                    <a:pt x="55629" y="201292"/>
                  </a:cubicBezTo>
                  <a:lnTo>
                    <a:pt x="55563" y="200025"/>
                  </a:lnTo>
                  <a:lnTo>
                    <a:pt x="55563" y="177800"/>
                  </a:lnTo>
                  <a:lnTo>
                    <a:pt x="44450" y="177800"/>
                  </a:lnTo>
                  <a:cubicBezTo>
                    <a:pt x="20765" y="177800"/>
                    <a:pt x="1240" y="159228"/>
                    <a:pt x="56" y="135573"/>
                  </a:cubicBezTo>
                  <a:lnTo>
                    <a:pt x="0" y="133350"/>
                  </a:ln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  <a:moveTo>
                    <a:pt x="146685" y="103191"/>
                  </a:moveTo>
                  <a:cubicBezTo>
                    <a:pt x="142303" y="98895"/>
                    <a:pt x="135268" y="98965"/>
                    <a:pt x="130972" y="103346"/>
                  </a:cubicBezTo>
                  <a:cubicBezTo>
                    <a:pt x="125746" y="108681"/>
                    <a:pt x="118593" y="111688"/>
                    <a:pt x="111125" y="111688"/>
                  </a:cubicBezTo>
                  <a:cubicBezTo>
                    <a:pt x="103657" y="111688"/>
                    <a:pt x="96504" y="108681"/>
                    <a:pt x="91278" y="103346"/>
                  </a:cubicBezTo>
                  <a:cubicBezTo>
                    <a:pt x="86963" y="99069"/>
                    <a:pt x="80014" y="99050"/>
                    <a:pt x="75675" y="103303"/>
                  </a:cubicBezTo>
                  <a:cubicBezTo>
                    <a:pt x="71337" y="107556"/>
                    <a:pt x="71219" y="114505"/>
                    <a:pt x="75409" y="118904"/>
                  </a:cubicBezTo>
                  <a:cubicBezTo>
                    <a:pt x="84815" y="128501"/>
                    <a:pt x="97687" y="133910"/>
                    <a:pt x="111125" y="133910"/>
                  </a:cubicBezTo>
                  <a:cubicBezTo>
                    <a:pt x="124563" y="133910"/>
                    <a:pt x="137435" y="128501"/>
                    <a:pt x="146841" y="118904"/>
                  </a:cubicBezTo>
                  <a:cubicBezTo>
                    <a:pt x="151136" y="114521"/>
                    <a:pt x="151066" y="107487"/>
                    <a:pt x="146685" y="103191"/>
                  </a:cubicBezTo>
                  <a:moveTo>
                    <a:pt x="83455" y="55563"/>
                  </a:moveTo>
                  <a:lnTo>
                    <a:pt x="83344" y="55563"/>
                  </a:lnTo>
                  <a:cubicBezTo>
                    <a:pt x="77206" y="55563"/>
                    <a:pt x="72231" y="60538"/>
                    <a:pt x="72231" y="66675"/>
                  </a:cubicBezTo>
                  <a:cubicBezTo>
                    <a:pt x="72231" y="72812"/>
                    <a:pt x="77206" y="77787"/>
                    <a:pt x="83344" y="77787"/>
                  </a:cubicBezTo>
                  <a:lnTo>
                    <a:pt x="83455" y="77787"/>
                  </a:lnTo>
                  <a:cubicBezTo>
                    <a:pt x="89592" y="77787"/>
                    <a:pt x="94567" y="72812"/>
                    <a:pt x="94567" y="66675"/>
                  </a:cubicBezTo>
                  <a:cubicBezTo>
                    <a:pt x="94567" y="60538"/>
                    <a:pt x="89592" y="55563"/>
                    <a:pt x="83455" y="55563"/>
                  </a:cubicBezTo>
                  <a:moveTo>
                    <a:pt x="139017" y="55563"/>
                  </a:moveTo>
                  <a:lnTo>
                    <a:pt x="138906" y="55563"/>
                  </a:lnTo>
                  <a:cubicBezTo>
                    <a:pt x="132769" y="55563"/>
                    <a:pt x="127794" y="60538"/>
                    <a:pt x="127794" y="66675"/>
                  </a:cubicBezTo>
                  <a:cubicBezTo>
                    <a:pt x="127794" y="72812"/>
                    <a:pt x="132769" y="77787"/>
                    <a:pt x="138906" y="77787"/>
                  </a:cubicBezTo>
                  <a:lnTo>
                    <a:pt x="139017" y="77787"/>
                  </a:lnTo>
                  <a:cubicBezTo>
                    <a:pt x="145155" y="77787"/>
                    <a:pt x="150130" y="72812"/>
                    <a:pt x="150130" y="66675"/>
                  </a:cubicBezTo>
                  <a:cubicBezTo>
                    <a:pt x="150130" y="60538"/>
                    <a:pt x="145155" y="55563"/>
                    <a:pt x="139017" y="5556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025140" y="5444490"/>
              <a:ext cx="1053503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AI 助手：通过 `CLAUDE.md` 获得项目上下文、技术栈、规范、架构决策和协作规则。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57" name="Ellipse 57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63" name="TextBox 63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06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8" grpId="0"/>
      <p:bldP spid="26" grpId="0"/>
      <p:bldP spid="38" grpId="0"/>
      <p:bldP spid="44" grpId="0"/>
      <p:bldP spid="52" grpId="0"/>
      <p:bldP spid="5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5305" y="511492"/>
            <a:ext cx="6628209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先把问题问清楚，再开始生成文档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1089660"/>
            <a:ext cx="32114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AI 不是直接输出，而是先做结构化澄清。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" y="1571625"/>
            <a:ext cx="4184500" cy="4000500"/>
            <a:chOff x="571500" y="1571625"/>
            <a:chExt cx="4184500" cy="4000500"/>
          </a:xfrm>
        </p:grpSpPr>
        <p:sp>
          <p:nvSpPr>
            <p:cNvPr id="7" name="Rectangle 7"/>
            <p:cNvSpPr/>
            <p:nvPr/>
          </p:nvSpPr>
          <p:spPr>
            <a:xfrm>
              <a:off x="571500" y="1571625"/>
              <a:ext cx="4000500" cy="4000500"/>
            </a:xfrm>
            <a:prstGeom prst="roundRect">
              <a:avLst>
                <a:gd name="adj" fmla="val 4762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773555"/>
              <a:ext cx="1985581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需求澄清能力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1058" y="2291239"/>
              <a:ext cx="37287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当需求不完整、目标不清晰、边界模糊时，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50608" y="254841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不直接生成文档。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1058" y="3024664"/>
              <a:ext cx="29838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采用一问一答方式澄清关键决策。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1058" y="3500914"/>
              <a:ext cx="391494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每个问题提供推荐答案，减少用户决策成本。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1058" y="3977164"/>
              <a:ext cx="37287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优先澄清目标用户、核心场景、成功标准、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50608" y="4234339"/>
              <a:ext cx="322595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P0/P1/P2、明确不做范围、风险约束。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048250" y="1571625"/>
            <a:ext cx="6572250" cy="4000500"/>
            <a:chOff x="5048250" y="1571625"/>
            <a:chExt cx="6572250" cy="4000500"/>
          </a:xfrm>
        </p:grpSpPr>
        <p:sp>
          <p:nvSpPr>
            <p:cNvPr id="16" name="Rectangle 16"/>
            <p:cNvSpPr/>
            <p:nvPr/>
          </p:nvSpPr>
          <p:spPr>
            <a:xfrm>
              <a:off x="5048250" y="1571625"/>
              <a:ext cx="6572250" cy="40005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314950" y="1838325"/>
              <a:ext cx="31089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237E"/>
                  </a:solidFill>
                  <a:latin typeface="Consolas"/>
                  <a:ea typeface="Microsoft YaHei"/>
                  <a:cs typeface="Consolas"/>
                </a:rPr>
                <a:t>Question → Recommendation</a:t>
              </a:r>
            </a:p>
          </p:txBody>
        </p:sp>
        <p:grpSp>
          <p:nvGrpSpPr>
            <p:cNvPr id="20" name="Group 20"/>
            <p:cNvGrpSpPr/>
            <p:nvPr/>
          </p:nvGrpSpPr>
          <p:grpSpPr>
            <a:xfrm>
              <a:off x="5334000" y="2381250"/>
              <a:ext cx="2857500" cy="666750"/>
              <a:chOff x="5334000" y="2381250"/>
              <a:chExt cx="2857500" cy="666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5334000" y="2381250"/>
                <a:ext cx="2857500" cy="666750"/>
              </a:xfrm>
              <a:prstGeom prst="roundRect">
                <a:avLst>
                  <a:gd name="adj" fmla="val 2571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5555932" y="2576989"/>
                <a:ext cx="245316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目标用户是谁？谁最先受益？</a:t>
                </a:r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8382000" y="2381250"/>
              <a:ext cx="2857500" cy="666750"/>
              <a:chOff x="8382000" y="2381250"/>
              <a:chExt cx="2857500" cy="6667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8382000" y="2381250"/>
                <a:ext cx="2857500" cy="666750"/>
              </a:xfrm>
              <a:prstGeom prst="roundRect">
                <a:avLst>
                  <a:gd name="adj" fmla="val 25714"/>
                </a:avLst>
              </a:prstGeom>
              <a:solidFill>
                <a:srgbClr val="E6F4EA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603932" y="2576989"/>
                <a:ext cx="245316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推荐先明确目标用户与场景。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0" y="3238500"/>
              <a:ext cx="2857500" cy="666750"/>
              <a:chOff x="5334000" y="3238500"/>
              <a:chExt cx="2857500" cy="666750"/>
            </a:xfrm>
          </p:grpSpPr>
          <p:sp>
            <p:nvSpPr>
              <p:cNvPr id="24" name="Rectangle 24"/>
              <p:cNvSpPr/>
              <p:nvPr/>
            </p:nvSpPr>
            <p:spPr>
              <a:xfrm>
                <a:off x="5334000" y="3238500"/>
                <a:ext cx="2857500" cy="666750"/>
              </a:xfrm>
              <a:prstGeom prst="roundRect">
                <a:avLst>
                  <a:gd name="adj" fmla="val 25714"/>
                </a:avLst>
              </a:prstGeom>
              <a:solidFill>
                <a:srgbClr val="FDECEA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5555932" y="3434239"/>
                <a:ext cx="245316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成功标准是什么？怎么验收？</a:t>
                </a: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8382000" y="3238500"/>
              <a:ext cx="3047523" cy="666750"/>
              <a:chOff x="8382000" y="3238500"/>
              <a:chExt cx="3047523" cy="666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8382000" y="3238500"/>
                <a:ext cx="2857500" cy="666750"/>
              </a:xfrm>
              <a:prstGeom prst="roundRect">
                <a:avLst>
                  <a:gd name="adj" fmla="val 25714"/>
                </a:avLst>
              </a:prstGeom>
              <a:solidFill>
                <a:srgbClr val="FEF7E0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8603932" y="3434239"/>
                <a:ext cx="2825591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推荐同步定义验收标准与优先级。</a:t>
                </a: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5334000" y="4095750"/>
              <a:ext cx="2857500" cy="1047750"/>
              <a:chOff x="5334000" y="4095750"/>
              <a:chExt cx="2857500" cy="1047750"/>
            </a:xfrm>
          </p:grpSpPr>
          <p:sp>
            <p:nvSpPr>
              <p:cNvPr id="30" name="Rectangle 30"/>
              <p:cNvSpPr/>
              <p:nvPr/>
            </p:nvSpPr>
            <p:spPr>
              <a:xfrm>
                <a:off x="5334000" y="4095750"/>
                <a:ext cx="2857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E8F0FE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5555932" y="4291489"/>
                <a:ext cx="2453164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哪些范围不做？有哪些风险、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5555932" y="4548664"/>
                <a:ext cx="1522095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合规或资源约束？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8382000" y="4095750"/>
              <a:ext cx="2861309" cy="1047750"/>
              <a:chOff x="8382000" y="4095750"/>
              <a:chExt cx="2861309" cy="1047750"/>
            </a:xfrm>
          </p:grpSpPr>
          <p:sp>
            <p:nvSpPr>
              <p:cNvPr id="34" name="Rectangle 34"/>
              <p:cNvSpPr/>
              <p:nvPr/>
            </p:nvSpPr>
            <p:spPr>
              <a:xfrm>
                <a:off x="8382000" y="4095750"/>
                <a:ext cx="2857500" cy="1047750"/>
              </a:xfrm>
              <a:prstGeom prst="roundRect">
                <a:avLst>
                  <a:gd name="adj" fmla="val 16364"/>
                </a:avLst>
              </a:prstGeom>
              <a:solidFill>
                <a:srgbClr val="E6F4EA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8603932" y="4291489"/>
                <a:ext cx="2639377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推荐明确不做范围和风险边界，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603932" y="4548664"/>
                <a:ext cx="2350746" cy="2590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75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避免 AI 自行脑补业务规则。</a:t>
                </a:r>
              </a:p>
            </p:txBody>
          </p:sp>
        </p:grpSp>
      </p:grpSp>
      <p:grpSp>
        <p:nvGrpSpPr>
          <p:cNvPr id="44" name="Group 44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39" name="Ellipse 39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07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527685"/>
            <a:ext cx="770783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避免 AI 基于模板假设生成脱离项目的方案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1089660"/>
            <a:ext cx="496404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AI 不是凭空设计系统，而是基于现有代码和约束做可执行方案。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571500" y="1571625"/>
            <a:ext cx="5218767" cy="4095750"/>
            <a:chOff x="571500" y="1571625"/>
            <a:chExt cx="5218767" cy="4095750"/>
          </a:xfrm>
        </p:grpSpPr>
        <p:sp>
          <p:nvSpPr>
            <p:cNvPr id="7" name="Rectangle 7"/>
            <p:cNvSpPr/>
            <p:nvPr/>
          </p:nvSpPr>
          <p:spPr>
            <a:xfrm>
              <a:off x="571500" y="1571625"/>
              <a:ext cx="4762500" cy="4095750"/>
            </a:xfrm>
            <a:prstGeom prst="roundRect">
              <a:avLst>
                <a:gd name="adj" fmla="val 4651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844549" y="1812925"/>
              <a:ext cx="177802" cy="222251"/>
              <a:chOff x="844549" y="1812925"/>
              <a:chExt cx="177802" cy="22225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844549" y="1812925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2"/>
                    </a:lnTo>
                    <a:lnTo>
                      <a:pt x="100013" y="55562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7"/>
                    </a:lnTo>
                    <a:lnTo>
                      <a:pt x="166688" y="77787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2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close/>
                    <a:moveTo>
                      <a:pt x="55563" y="111125"/>
                    </a:moveTo>
                    <a:cubicBezTo>
                      <a:pt x="49426" y="111125"/>
                      <a:pt x="44451" y="116100"/>
                      <a:pt x="44451" y="122237"/>
                    </a:cubicBezTo>
                    <a:lnTo>
                      <a:pt x="44451" y="177800"/>
                    </a:lnTo>
                    <a:cubicBezTo>
                      <a:pt x="44451" y="183937"/>
                      <a:pt x="49426" y="188912"/>
                      <a:pt x="55563" y="188912"/>
                    </a:cubicBezTo>
                    <a:cubicBezTo>
                      <a:pt x="61701" y="188912"/>
                      <a:pt x="66676" y="183937"/>
                      <a:pt x="66676" y="177800"/>
                    </a:cubicBezTo>
                    <a:lnTo>
                      <a:pt x="66676" y="122237"/>
                    </a:lnTo>
                    <a:cubicBezTo>
                      <a:pt x="66676" y="116100"/>
                      <a:pt x="61701" y="111125"/>
                      <a:pt x="55563" y="111125"/>
                    </a:cubicBezTo>
                    <a:moveTo>
                      <a:pt x="88901" y="155575"/>
                    </a:moveTo>
                    <a:cubicBezTo>
                      <a:pt x="82764" y="155575"/>
                      <a:pt x="77788" y="160550"/>
                      <a:pt x="77788" y="166688"/>
                    </a:cubicBezTo>
                    <a:lnTo>
                      <a:pt x="77788" y="177800"/>
                    </a:lnTo>
                    <a:cubicBezTo>
                      <a:pt x="77788" y="183937"/>
                      <a:pt x="82764" y="188912"/>
                      <a:pt x="88901" y="188912"/>
                    </a:cubicBezTo>
                    <a:cubicBezTo>
                      <a:pt x="95038" y="188912"/>
                      <a:pt x="100013" y="183937"/>
                      <a:pt x="100013" y="177800"/>
                    </a:cubicBezTo>
                    <a:lnTo>
                      <a:pt x="100013" y="166688"/>
                    </a:lnTo>
                    <a:cubicBezTo>
                      <a:pt x="100013" y="160550"/>
                      <a:pt x="95038" y="155575"/>
                      <a:pt x="88901" y="155575"/>
                    </a:cubicBezTo>
                    <a:moveTo>
                      <a:pt x="122238" y="133350"/>
                    </a:moveTo>
                    <a:cubicBezTo>
                      <a:pt x="116101" y="133350"/>
                      <a:pt x="111126" y="138325"/>
                      <a:pt x="111126" y="144462"/>
                    </a:cubicBezTo>
                    <a:lnTo>
                      <a:pt x="111126" y="177800"/>
                    </a:lnTo>
                    <a:cubicBezTo>
                      <a:pt x="111126" y="183937"/>
                      <a:pt x="116101" y="188912"/>
                      <a:pt x="122238" y="188912"/>
                    </a:cubicBezTo>
                    <a:cubicBezTo>
                      <a:pt x="128376" y="188912"/>
                      <a:pt x="133351" y="183937"/>
                      <a:pt x="133351" y="177800"/>
                    </a:cubicBezTo>
                    <a:lnTo>
                      <a:pt x="133351" y="144462"/>
                    </a:lnTo>
                    <a:cubicBezTo>
                      <a:pt x="133351" y="138325"/>
                      <a:pt x="128376" y="133350"/>
                      <a:pt x="122238" y="133350"/>
                    </a:cubicBezTo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966776" y="1824026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285F4"/>
              </a:solidFill>
              <a:ln>
                <a:noFill/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163955" y="1773555"/>
              <a:ext cx="462631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生成 `dev.md` 前必须审查项目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8682" y="2357914"/>
              <a:ext cx="54447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37E"/>
                  </a:solidFill>
                  <a:latin typeface="Consolas"/>
                  <a:ea typeface="Microsoft YaHei"/>
                  <a:cs typeface="Consolas"/>
                </a:rPr>
                <a:t>/repo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74432" y="2357914"/>
              <a:ext cx="77724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目录结构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8682" y="2815114"/>
              <a:ext cx="8051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37E"/>
                  </a:solidFill>
                  <a:latin typeface="Consolas"/>
                  <a:ea typeface="Microsoft YaHei"/>
                  <a:cs typeface="Consolas"/>
                </a:rPr>
                <a:t>config.*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55432" y="281511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配置文件与依赖版本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8682" y="3272314"/>
              <a:ext cx="9541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37E"/>
                  </a:solidFill>
                  <a:latin typeface="Consolas"/>
                  <a:ea typeface="Microsoft YaHei"/>
                  <a:cs typeface="Consolas"/>
                </a:rPr>
                <a:t>main / app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45932" y="3272314"/>
              <a:ext cx="114966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核心入口文件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88682" y="3729514"/>
              <a:ext cx="84241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37E"/>
                  </a:solidFill>
                  <a:latin typeface="Consolas"/>
                  <a:ea typeface="Microsoft YaHei"/>
                  <a:cs typeface="Consolas"/>
                </a:rPr>
                <a:t>module/*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650682" y="3729514"/>
              <a:ext cx="152209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相关模块现有实现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88682" y="4186714"/>
              <a:ext cx="14196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A237E"/>
                  </a:solidFill>
                  <a:latin typeface="Consolas"/>
                  <a:ea typeface="Microsoft YaHei"/>
                  <a:cs typeface="Consolas"/>
                </a:rPr>
                <a:t>naming / layout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126932" y="4186714"/>
              <a:ext cx="17083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命名规范和组织模式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730" y="480726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结论：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60182" y="4815364"/>
              <a:ext cx="1894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先读仓库，再出方案。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715000" y="1571625"/>
            <a:ext cx="5905500" cy="4095750"/>
            <a:chOff x="5715000" y="1571625"/>
            <a:chExt cx="5905500" cy="4095750"/>
          </a:xfrm>
        </p:grpSpPr>
        <p:sp>
          <p:nvSpPr>
            <p:cNvPr id="25" name="Rectangle 25"/>
            <p:cNvSpPr/>
            <p:nvPr/>
          </p:nvSpPr>
          <p:spPr>
            <a:xfrm>
              <a:off x="5715000" y="1571625"/>
              <a:ext cx="5905500" cy="4095750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5974080" y="1773555"/>
              <a:ext cx="295170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输出结果必须可落地</a:t>
              </a:r>
            </a:p>
          </p:txBody>
        </p:sp>
        <p:grpSp>
          <p:nvGrpSpPr>
            <p:cNvPr id="38" name="Group 38"/>
            <p:cNvGrpSpPr/>
            <p:nvPr/>
          </p:nvGrpSpPr>
          <p:grpSpPr>
            <a:xfrm>
              <a:off x="6096000" y="2381250"/>
              <a:ext cx="2381250" cy="2095500"/>
              <a:chOff x="6096000" y="2381250"/>
              <a:chExt cx="2381250" cy="209550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6096000" y="2381250"/>
                <a:ext cx="2381250" cy="2095500"/>
              </a:xfrm>
              <a:prstGeom prst="roundRect">
                <a:avLst>
                  <a:gd name="adj" fmla="val 8182"/>
                </a:avLst>
              </a:prstGeom>
              <a:solidFill>
                <a:srgbClr val="E8F0FE"/>
              </a:solidFill>
              <a:ln w="9525">
                <a:solidFill>
                  <a:srgbClr val="4285F4"/>
                </a:solidFill>
              </a:ln>
            </p:spPr>
          </p:sp>
          <p:grpSp>
            <p:nvGrpSpPr>
              <p:cNvPr id="32" name="Group 32"/>
              <p:cNvGrpSpPr/>
              <p:nvPr/>
            </p:nvGrpSpPr>
            <p:grpSpPr>
              <a:xfrm>
                <a:off x="6307138" y="2611438"/>
                <a:ext cx="206374" cy="206374"/>
                <a:chOff x="6307138" y="2611438"/>
                <a:chExt cx="206374" cy="206374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6307138" y="2735262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27520"/>
                      </a:moveTo>
                      <a:cubicBezTo>
                        <a:pt x="0" y="12321"/>
                        <a:pt x="12321" y="0"/>
                        <a:pt x="27520" y="0"/>
                      </a:cubicBezTo>
                      <a:lnTo>
                        <a:pt x="55030" y="0"/>
                      </a:lnTo>
                      <a:cubicBezTo>
                        <a:pt x="70229" y="0"/>
                        <a:pt x="82550" y="12321"/>
                        <a:pt x="82550" y="27520"/>
                      </a:cubicBezTo>
                      <a:lnTo>
                        <a:pt x="82550" y="55030"/>
                      </a:lnTo>
                      <a:cubicBezTo>
                        <a:pt x="82550" y="70229"/>
                        <a:pt x="70229" y="82550"/>
                        <a:pt x="55030" y="82550"/>
                      </a:cubicBezTo>
                      <a:lnTo>
                        <a:pt x="27520" y="82550"/>
                      </a:lnTo>
                      <a:cubicBezTo>
                        <a:pt x="20221" y="82550"/>
                        <a:pt x="13221" y="79651"/>
                        <a:pt x="8060" y="74490"/>
                      </a:cubicBezTo>
                      <a:cubicBezTo>
                        <a:pt x="2899" y="69329"/>
                        <a:pt x="0" y="62329"/>
                        <a:pt x="0" y="55030"/>
                      </a:cubicBezTo>
                      <a:close/>
                    </a:path>
                  </a:pathLst>
                </a:custGeom>
                <a:solidFill>
                  <a:srgbClr val="4285F4"/>
                </a:soli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430962" y="2735262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27520"/>
                      </a:moveTo>
                      <a:cubicBezTo>
                        <a:pt x="0" y="20221"/>
                        <a:pt x="2899" y="13221"/>
                        <a:pt x="8060" y="8060"/>
                      </a:cubicBezTo>
                      <a:cubicBezTo>
                        <a:pt x="13221" y="2899"/>
                        <a:pt x="20221" y="0"/>
                        <a:pt x="27520" y="0"/>
                      </a:cubicBezTo>
                      <a:lnTo>
                        <a:pt x="55030" y="0"/>
                      </a:lnTo>
                      <a:cubicBezTo>
                        <a:pt x="70229" y="0"/>
                        <a:pt x="82550" y="12321"/>
                        <a:pt x="82550" y="27520"/>
                      </a:cubicBezTo>
                      <a:lnTo>
                        <a:pt x="82550" y="55030"/>
                      </a:lnTo>
                      <a:cubicBezTo>
                        <a:pt x="82550" y="70229"/>
                        <a:pt x="70229" y="82550"/>
                        <a:pt x="55030" y="82550"/>
                      </a:cubicBezTo>
                      <a:lnTo>
                        <a:pt x="27520" y="82550"/>
                      </a:lnTo>
                      <a:cubicBezTo>
                        <a:pt x="20221" y="82550"/>
                        <a:pt x="13221" y="79651"/>
                        <a:pt x="8060" y="74490"/>
                      </a:cubicBezTo>
                      <a:cubicBezTo>
                        <a:pt x="2899" y="69329"/>
                        <a:pt x="0" y="62329"/>
                        <a:pt x="0" y="55030"/>
                      </a:cubicBezTo>
                      <a:close/>
                    </a:path>
                  </a:pathLst>
                </a:custGeom>
                <a:solidFill>
                  <a:srgbClr val="4285F4"/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6369050" y="2611438"/>
                  <a:ext cx="82550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2550" h="82550">
                      <a:moveTo>
                        <a:pt x="0" y="27520"/>
                      </a:moveTo>
                      <a:cubicBezTo>
                        <a:pt x="0" y="12321"/>
                        <a:pt x="12321" y="0"/>
                        <a:pt x="27520" y="0"/>
                      </a:cubicBezTo>
                      <a:lnTo>
                        <a:pt x="55030" y="0"/>
                      </a:lnTo>
                      <a:cubicBezTo>
                        <a:pt x="70229" y="0"/>
                        <a:pt x="82550" y="12321"/>
                        <a:pt x="82550" y="27520"/>
                      </a:cubicBezTo>
                      <a:lnTo>
                        <a:pt x="82550" y="55030"/>
                      </a:lnTo>
                      <a:cubicBezTo>
                        <a:pt x="82550" y="70229"/>
                        <a:pt x="70229" y="82550"/>
                        <a:pt x="55030" y="82550"/>
                      </a:cubicBezTo>
                      <a:lnTo>
                        <a:pt x="27520" y="82550"/>
                      </a:lnTo>
                      <a:cubicBezTo>
                        <a:pt x="12321" y="82550"/>
                        <a:pt x="0" y="70229"/>
                        <a:pt x="0" y="55030"/>
                      </a:cubicBezTo>
                      <a:close/>
                    </a:path>
                  </a:pathLst>
                </a:custGeom>
                <a:solidFill>
                  <a:srgbClr val="4285F4"/>
                </a:solidFill>
                <a:ln>
                  <a:noFill/>
                </a:ln>
              </p:spPr>
            </p:sp>
            <p:sp>
              <p:nvSpPr>
                <p:cNvPr id="31" name="Freeform 31"/>
                <p:cNvSpPr/>
                <p:nvPr/>
              </p:nvSpPr>
              <p:spPr>
                <a:xfrm>
                  <a:off x="6338094" y="2673350"/>
                  <a:ext cx="144463" cy="825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463" h="82550">
                      <a:moveTo>
                        <a:pt x="72231" y="0"/>
                      </a:moveTo>
                      <a:cubicBezTo>
                        <a:pt x="66532" y="0"/>
                        <a:pt x="61912" y="4620"/>
                        <a:pt x="61912" y="10319"/>
                      </a:cubicBezTo>
                      <a:lnTo>
                        <a:pt x="61912" y="30956"/>
                      </a:lnTo>
                      <a:lnTo>
                        <a:pt x="30956" y="30956"/>
                      </a:lnTo>
                      <a:cubicBezTo>
                        <a:pt x="13982" y="30956"/>
                        <a:pt x="0" y="44938"/>
                        <a:pt x="0" y="61912"/>
                      </a:cubicBezTo>
                      <a:lnTo>
                        <a:pt x="0" y="72231"/>
                      </a:lnTo>
                      <a:cubicBezTo>
                        <a:pt x="0" y="77930"/>
                        <a:pt x="4620" y="82550"/>
                        <a:pt x="10319" y="82550"/>
                      </a:cubicBezTo>
                      <a:cubicBezTo>
                        <a:pt x="16018" y="82550"/>
                        <a:pt x="20638" y="77930"/>
                        <a:pt x="20638" y="72231"/>
                      </a:cubicBezTo>
                      <a:lnTo>
                        <a:pt x="20638" y="61912"/>
                      </a:lnTo>
                      <a:cubicBezTo>
                        <a:pt x="20638" y="56093"/>
                        <a:pt x="25136" y="51594"/>
                        <a:pt x="30956" y="51594"/>
                      </a:cubicBezTo>
                      <a:lnTo>
                        <a:pt x="113506" y="51594"/>
                      </a:lnTo>
                      <a:cubicBezTo>
                        <a:pt x="119326" y="51594"/>
                        <a:pt x="123825" y="56093"/>
                        <a:pt x="123825" y="61912"/>
                      </a:cubicBezTo>
                      <a:lnTo>
                        <a:pt x="123825" y="72231"/>
                      </a:lnTo>
                      <a:cubicBezTo>
                        <a:pt x="123825" y="77930"/>
                        <a:pt x="128445" y="82550"/>
                        <a:pt x="134144" y="82550"/>
                      </a:cubicBezTo>
                      <a:cubicBezTo>
                        <a:pt x="139843" y="82550"/>
                        <a:pt x="144463" y="77930"/>
                        <a:pt x="144463" y="72231"/>
                      </a:cubicBezTo>
                      <a:lnTo>
                        <a:pt x="144463" y="61912"/>
                      </a:lnTo>
                      <a:cubicBezTo>
                        <a:pt x="144463" y="44938"/>
                        <a:pt x="130481" y="30956"/>
                        <a:pt x="113506" y="30956"/>
                      </a:cubicBezTo>
                      <a:lnTo>
                        <a:pt x="82550" y="30956"/>
                      </a:lnTo>
                      <a:lnTo>
                        <a:pt x="82550" y="10319"/>
                      </a:lnTo>
                      <a:cubicBezTo>
                        <a:pt x="82550" y="4620"/>
                        <a:pt x="77930" y="0"/>
                        <a:pt x="72231" y="0"/>
                      </a:cubicBezTo>
                      <a:close/>
                    </a:path>
                  </a:pathLst>
                </a:custGeom>
                <a:solidFill>
                  <a:srgbClr val="4285F4"/>
                </a:solidFill>
                <a:ln>
                  <a:noFill/>
                </a:ln>
              </p:spPr>
            </p:sp>
          </p:grpSp>
          <p:sp>
            <p:nvSpPr>
              <p:cNvPr id="33" name="TextBox 33"/>
              <p:cNvSpPr txBox="1"/>
              <p:nvPr/>
            </p:nvSpPr>
            <p:spPr>
              <a:xfrm>
                <a:off x="6646545" y="2603182"/>
                <a:ext cx="1560100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接口影响清单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318885" y="3032760"/>
                <a:ext cx="16078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后端项目必须列出：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6318885" y="3299460"/>
                <a:ext cx="143256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• 新增 / 修改接口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318885" y="3566160"/>
                <a:ext cx="123101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• 影响的调用方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318885" y="3832860"/>
                <a:ext cx="15815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• 兼容性与回滚影响</a:t>
                </a: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8858250" y="2381250"/>
              <a:ext cx="2381250" cy="2095500"/>
              <a:chOff x="8858250" y="2381250"/>
              <a:chExt cx="2381250" cy="2095500"/>
            </a:xfrm>
          </p:grpSpPr>
          <p:sp>
            <p:nvSpPr>
              <p:cNvPr id="39" name="Rectangle 39"/>
              <p:cNvSpPr/>
              <p:nvPr/>
            </p:nvSpPr>
            <p:spPr>
              <a:xfrm>
                <a:off x="8858250" y="2381250"/>
                <a:ext cx="2381250" cy="2095500"/>
              </a:xfrm>
              <a:prstGeom prst="roundRect">
                <a:avLst>
                  <a:gd name="adj" fmla="val 8182"/>
                </a:avLst>
              </a:prstGeom>
              <a:solidFill>
                <a:srgbClr val="FDECEA"/>
              </a:solidFill>
              <a:ln w="9525">
                <a:solidFill>
                  <a:srgbClr val="EA4335"/>
                </a:solidFill>
              </a:ln>
            </p:spPr>
          </p:sp>
          <p:grpSp>
            <p:nvGrpSpPr>
              <p:cNvPr id="42" name="Group 42"/>
              <p:cNvGrpSpPr/>
              <p:nvPr/>
            </p:nvGrpSpPr>
            <p:grpSpPr>
              <a:xfrm>
                <a:off x="9090024" y="2611438"/>
                <a:ext cx="165102" cy="206376"/>
                <a:chOff x="9090024" y="2611438"/>
                <a:chExt cx="165102" cy="206376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9090024" y="2611438"/>
                  <a:ext cx="165102" cy="2063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5102" h="206376">
                      <a:moveTo>
                        <a:pt x="82551" y="0"/>
                      </a:moveTo>
                      <a:lnTo>
                        <a:pt x="83758" y="72"/>
                      </a:lnTo>
                      <a:cubicBezTo>
                        <a:pt x="88500" y="631"/>
                        <a:pt x="92238" y="4370"/>
                        <a:pt x="92797" y="9111"/>
                      </a:cubicBezTo>
                      <a:lnTo>
                        <a:pt x="92870" y="10319"/>
                      </a:lnTo>
                      <a:lnTo>
                        <a:pt x="92870" y="51594"/>
                      </a:lnTo>
                      <a:lnTo>
                        <a:pt x="92921" y="53142"/>
                      </a:lnTo>
                      <a:cubicBezTo>
                        <a:pt x="93684" y="63294"/>
                        <a:pt x="101737" y="71373"/>
                        <a:pt x="111887" y="72169"/>
                      </a:cubicBezTo>
                      <a:lnTo>
                        <a:pt x="113507" y="72231"/>
                      </a:lnTo>
                      <a:lnTo>
                        <a:pt x="154782" y="72231"/>
                      </a:lnTo>
                      <a:lnTo>
                        <a:pt x="155989" y="72303"/>
                      </a:lnTo>
                      <a:cubicBezTo>
                        <a:pt x="160731" y="72863"/>
                        <a:pt x="164470" y="76601"/>
                        <a:pt x="165029" y="81343"/>
                      </a:cubicBezTo>
                      <a:lnTo>
                        <a:pt x="165101" y="82550"/>
                      </a:lnTo>
                      <a:lnTo>
                        <a:pt x="165101" y="175419"/>
                      </a:lnTo>
                      <a:cubicBezTo>
                        <a:pt x="165102" y="191811"/>
                        <a:pt x="152324" y="205362"/>
                        <a:pt x="135961" y="206323"/>
                      </a:cubicBezTo>
                      <a:lnTo>
                        <a:pt x="134145" y="206375"/>
                      </a:lnTo>
                      <a:lnTo>
                        <a:pt x="30957" y="206375"/>
                      </a:lnTo>
                      <a:cubicBezTo>
                        <a:pt x="14565" y="206376"/>
                        <a:pt x="1014" y="193599"/>
                        <a:pt x="53" y="177235"/>
                      </a:cubicBezTo>
                      <a:lnTo>
                        <a:pt x="1" y="175419"/>
                      </a:lnTo>
                      <a:lnTo>
                        <a:pt x="1" y="30956"/>
                      </a:lnTo>
                      <a:cubicBezTo>
                        <a:pt x="0" y="14564"/>
                        <a:pt x="12777" y="1013"/>
                        <a:pt x="29141" y="52"/>
                      </a:cubicBezTo>
                      <a:lnTo>
                        <a:pt x="30957" y="0"/>
                      </a:lnTo>
                      <a:close/>
                      <a:moveTo>
                        <a:pt x="113507" y="144462"/>
                      </a:moveTo>
                      <a:lnTo>
                        <a:pt x="51595" y="144462"/>
                      </a:lnTo>
                      <a:cubicBezTo>
                        <a:pt x="45896" y="144462"/>
                        <a:pt x="41276" y="149082"/>
                        <a:pt x="41276" y="154781"/>
                      </a:cubicBezTo>
                      <a:cubicBezTo>
                        <a:pt x="41276" y="160480"/>
                        <a:pt x="45896" y="165100"/>
                        <a:pt x="51595" y="165100"/>
                      </a:cubicBezTo>
                      <a:lnTo>
                        <a:pt x="113507" y="165100"/>
                      </a:lnTo>
                      <a:cubicBezTo>
                        <a:pt x="119206" y="165100"/>
                        <a:pt x="123826" y="160480"/>
                        <a:pt x="123826" y="154781"/>
                      </a:cubicBezTo>
                      <a:cubicBezTo>
                        <a:pt x="123826" y="149082"/>
                        <a:pt x="119206" y="144462"/>
                        <a:pt x="113507" y="144462"/>
                      </a:cubicBezTo>
                      <a:moveTo>
                        <a:pt x="113507" y="103187"/>
                      </a:moveTo>
                      <a:lnTo>
                        <a:pt x="51595" y="103187"/>
                      </a:lnTo>
                      <a:cubicBezTo>
                        <a:pt x="45896" y="103187"/>
                        <a:pt x="41276" y="107807"/>
                        <a:pt x="41276" y="113506"/>
                      </a:cubicBezTo>
                      <a:cubicBezTo>
                        <a:pt x="41276" y="119205"/>
                        <a:pt x="45896" y="123825"/>
                        <a:pt x="51595" y="123825"/>
                      </a:cubicBezTo>
                      <a:lnTo>
                        <a:pt x="113507" y="123825"/>
                      </a:lnTo>
                      <a:cubicBezTo>
                        <a:pt x="119206" y="123825"/>
                        <a:pt x="123826" y="119205"/>
                        <a:pt x="123826" y="113506"/>
                      </a:cubicBezTo>
                      <a:cubicBezTo>
                        <a:pt x="123826" y="107807"/>
                        <a:pt x="119206" y="103187"/>
                        <a:pt x="113507" y="103187"/>
                      </a:cubicBezTo>
                    </a:path>
                  </a:pathLst>
                </a:custGeom>
                <a:solidFill>
                  <a:srgbClr val="EA4335"/>
                </a:solidFill>
                <a:ln>
                  <a:noFill/>
                </a:ln>
              </p:spPr>
            </p:sp>
            <p:sp>
              <p:nvSpPr>
                <p:cNvPr id="41" name="Freeform 41"/>
                <p:cNvSpPr/>
                <p:nvPr/>
              </p:nvSpPr>
              <p:spPr>
                <a:xfrm>
                  <a:off x="9203521" y="2621746"/>
                  <a:ext cx="41285" cy="412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285" h="41285">
                      <a:moveTo>
                        <a:pt x="41285" y="41285"/>
                      </a:moveTo>
                      <a:lnTo>
                        <a:pt x="10" y="4128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EA4335"/>
                </a:solidFill>
                <a:ln>
                  <a:noFill/>
                </a:ln>
              </p:spPr>
            </p:sp>
          </p:grpSp>
          <p:sp>
            <p:nvSpPr>
              <p:cNvPr id="43" name="TextBox 43"/>
              <p:cNvSpPr txBox="1"/>
              <p:nvPr/>
            </p:nvSpPr>
            <p:spPr>
              <a:xfrm>
                <a:off x="9408795" y="2603182"/>
                <a:ext cx="1307068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A237E"/>
                    </a:solidFill>
                    <a:latin typeface="Arial"/>
                    <a:ea typeface="Microsoft YaHei"/>
                    <a:cs typeface="Arial"/>
                  </a:rPr>
                  <a:t>数据库变更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081135" y="3032760"/>
                <a:ext cx="203720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必须生成独立 SQL 文件：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9081135" y="3299460"/>
                <a:ext cx="134493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• `sql/DDL.sql`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9081135" y="3566160"/>
                <a:ext cx="177431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• `sql/DML_init.sql`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9081135" y="3832860"/>
                <a:ext cx="193205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5F6368"/>
                    </a:solidFill>
                    <a:latin typeface="Arial"/>
                    <a:ea typeface="Microsoft YaHei"/>
                    <a:cs typeface="Arial"/>
                  </a:rPr>
                  <a:t>• 变更与初始化脚本分离</a:t>
                </a:r>
              </a:p>
            </p:txBody>
          </p:sp>
        </p:grpSp>
        <p:sp>
          <p:nvSpPr>
            <p:cNvPr id="49" name="Rectangle 49"/>
            <p:cNvSpPr/>
            <p:nvPr/>
          </p:nvSpPr>
          <p:spPr>
            <a:xfrm>
              <a:off x="6096000" y="4762500"/>
              <a:ext cx="5143500" cy="571500"/>
            </a:xfrm>
            <a:prstGeom prst="roundRect">
              <a:avLst>
                <a:gd name="adj" fmla="val 26667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186011" y="4978718"/>
              <a:ext cx="496347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技术方案必须贴合真实代码结构，而不是通用模板想象。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52" name="Ellipse 52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53" name="Ellipse 53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54" name="Ellipse 54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58" name="TextBox 58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5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9115" y="543878"/>
            <a:ext cx="944994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不是写完代码再补测试，而是规格阶段就定义验证方式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grpSp>
        <p:nvGrpSpPr>
          <p:cNvPr id="14" name="Group 14"/>
          <p:cNvGrpSpPr/>
          <p:nvPr/>
        </p:nvGrpSpPr>
        <p:grpSpPr>
          <a:xfrm>
            <a:off x="571500" y="1619250"/>
            <a:ext cx="3435456" cy="3619500"/>
            <a:chOff x="571500" y="1619250"/>
            <a:chExt cx="3435456" cy="3619500"/>
          </a:xfrm>
        </p:grpSpPr>
        <p:sp>
          <p:nvSpPr>
            <p:cNvPr id="6" name="Rectangle 6"/>
            <p:cNvSpPr/>
            <p:nvPr/>
          </p:nvSpPr>
          <p:spPr>
            <a:xfrm>
              <a:off x="571500" y="1619250"/>
              <a:ext cx="3143250" cy="3619500"/>
            </a:xfrm>
            <a:prstGeom prst="roundRect">
              <a:avLst>
                <a:gd name="adj" fmla="val 6061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2485" y="1808798"/>
              <a:ext cx="317447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`test.md` 要定义什么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41058" y="2319814"/>
              <a:ext cx="935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测试策略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1058" y="2719864"/>
              <a:ext cx="13079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单元测试清单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1058" y="3119914"/>
              <a:ext cx="13079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集成测试场景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41058" y="3519964"/>
              <a:ext cx="13079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静态扫描规则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41058" y="3920014"/>
              <a:ext cx="11217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部署前检查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41058" y="45296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任何代码变更必须同步更新测试。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14950" y="2095500"/>
            <a:ext cx="1562100" cy="2667000"/>
            <a:chOff x="5314950" y="2095500"/>
            <a:chExt cx="1562100" cy="2667000"/>
          </a:xfrm>
        </p:grpSpPr>
        <p:sp>
          <p:nvSpPr>
            <p:cNvPr id="15" name="Ellipse 15"/>
            <p:cNvSpPr/>
            <p:nvPr/>
          </p:nvSpPr>
          <p:spPr>
            <a:xfrm>
              <a:off x="5314950" y="2647950"/>
              <a:ext cx="1562100" cy="1562100"/>
            </a:xfrm>
            <a:prstGeom prst="ellipse">
              <a:avLst/>
            </a:prstGeom>
            <a:solidFill>
              <a:srgbClr val="E8F0FE"/>
            </a:solidFill>
            <a:ln w="38100">
              <a:solidFill>
                <a:srgbClr val="4285F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803647" y="3145155"/>
              <a:ext cx="584706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PRD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585936" y="3549968"/>
              <a:ext cx="10201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需求与验收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334000" y="2095500"/>
              <a:ext cx="1524000" cy="666750"/>
            </a:xfrm>
            <a:prstGeom prst="roundRect">
              <a:avLst>
                <a:gd name="adj" fmla="val 25714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581993" y="2216468"/>
              <a:ext cx="10280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PRD → 代码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469255" y="2477452"/>
              <a:ext cx="12534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需求是否都有实现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5334000" y="4095750"/>
              <a:ext cx="1524000" cy="666750"/>
            </a:xfrm>
            <a:prstGeom prst="roundRect">
              <a:avLst>
                <a:gd name="adj" fmla="val 25714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581993" y="4216718"/>
              <a:ext cx="102801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代码 → PRD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392579" y="4477702"/>
              <a:ext cx="1406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代码是否有需求依据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096000" y="2647950"/>
              <a:ext cx="1" cy="304800"/>
            </a:xfrm>
            <a:prstGeom prst="line">
              <a:avLst/>
            </a:prstGeom>
            <a:noFill/>
            <a:ln w="28575">
              <a:solidFill>
                <a:srgbClr val="4285F4"/>
              </a:solidFill>
              <a:tailEnd type="triangle" w="lg" len="lg"/>
            </a:ln>
          </p:spPr>
        </p:sp>
        <p:sp>
          <p:nvSpPr>
            <p:cNvPr id="25" name="Line 25"/>
            <p:cNvSpPr/>
            <p:nvPr/>
          </p:nvSpPr>
          <p:spPr>
            <a:xfrm flipV="1">
              <a:off x="6096000" y="3905250"/>
              <a:ext cx="1" cy="304800"/>
            </a:xfrm>
            <a:prstGeom prst="line">
              <a:avLst/>
            </a:prstGeom>
            <a:noFill/>
            <a:ln w="28575">
              <a:solidFill>
                <a:srgbClr val="34A853"/>
              </a:solidFill>
              <a:tailEnd type="triangle" w="lg" len="lg"/>
            </a:ln>
          </p:spPr>
        </p:sp>
      </p:grpSp>
      <p:grpSp>
        <p:nvGrpSpPr>
          <p:cNvPr id="40" name="Group 40"/>
          <p:cNvGrpSpPr/>
          <p:nvPr/>
        </p:nvGrpSpPr>
        <p:grpSpPr>
          <a:xfrm>
            <a:off x="8382000" y="2000250"/>
            <a:ext cx="2667000" cy="3362325"/>
            <a:chOff x="8382000" y="2000250"/>
            <a:chExt cx="2667000" cy="3362325"/>
          </a:xfrm>
        </p:grpSpPr>
        <p:sp>
          <p:nvSpPr>
            <p:cNvPr id="27" name="Rectangle 27"/>
            <p:cNvSpPr/>
            <p:nvPr/>
          </p:nvSpPr>
          <p:spPr>
            <a:xfrm>
              <a:off x="8382000" y="2000250"/>
              <a:ext cx="2667000" cy="2857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642985" y="218979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闭环链路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763000" y="276225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527559" y="2902268"/>
              <a:ext cx="375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PRD</a:t>
              </a:r>
            </a:p>
          </p:txBody>
        </p:sp>
        <p:sp>
          <p:nvSpPr>
            <p:cNvPr id="31" name="Line 31"/>
            <p:cNvSpPr/>
            <p:nvPr/>
          </p:nvSpPr>
          <p:spPr>
            <a:xfrm>
              <a:off x="9715500" y="3219450"/>
              <a:ext cx="1" cy="209550"/>
            </a:xfrm>
            <a:prstGeom prst="line">
              <a:avLst/>
            </a:prstGeom>
            <a:noFill/>
            <a:ln w="28575">
              <a:solidFill>
                <a:srgbClr val="4285F4"/>
              </a:solidFill>
              <a:tailEnd type="triangle" w="lg" len="lg"/>
            </a:ln>
          </p:spPr>
        </p:sp>
        <p:sp>
          <p:nvSpPr>
            <p:cNvPr id="32" name="Rectangle 32"/>
            <p:cNvSpPr/>
            <p:nvPr/>
          </p:nvSpPr>
          <p:spPr>
            <a:xfrm>
              <a:off x="8763000" y="3476625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70627" y="3616642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Code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9715500" y="3933825"/>
              <a:ext cx="1" cy="209550"/>
            </a:xfrm>
            <a:prstGeom prst="line">
              <a:avLst/>
            </a:prstGeom>
            <a:noFill/>
            <a:ln w="28575">
              <a:solidFill>
                <a:srgbClr val="EA4335"/>
              </a:solidFill>
              <a:tailEnd type="triangle" w="lg" len="lg"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763000" y="4191000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E6F4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470627" y="4331018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Test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9715500" y="4648200"/>
              <a:ext cx="1" cy="209550"/>
            </a:xfrm>
            <a:prstGeom prst="line">
              <a:avLst/>
            </a:prstGeom>
            <a:noFill/>
            <a:ln w="28575">
              <a:solidFill>
                <a:srgbClr val="34A853"/>
              </a:solidFill>
              <a:tailEnd type="triangle" w="lg" len="lg"/>
            </a:ln>
          </p:spPr>
        </p:sp>
        <p:sp>
          <p:nvSpPr>
            <p:cNvPr id="38" name="Rectangle 38"/>
            <p:cNvSpPr/>
            <p:nvPr/>
          </p:nvSpPr>
          <p:spPr>
            <a:xfrm>
              <a:off x="8763000" y="4905375"/>
              <a:ext cx="1905000" cy="457200"/>
            </a:xfrm>
            <a:prstGeom prst="roundRect">
              <a:avLst>
                <a:gd name="adj" fmla="val 50000"/>
              </a:avLst>
            </a:prstGeom>
            <a:solidFill>
              <a:srgbClr val="FEF7E0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491329" y="5045392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验收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41" name="Ellipse 41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47" name="TextBox 47"/>
          <p:cNvSpPr txBox="1"/>
          <p:nvPr/>
        </p:nvSpPr>
        <p:spPr>
          <a:xfrm>
            <a:off x="11438477" y="6506528"/>
            <a:ext cx="19535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09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6" grpId="0"/>
      <p:bldP spid="4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5305" y="511492"/>
            <a:ext cx="5950775" cy="579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85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让每次 AI 参与的变更都可追溯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1089660"/>
            <a:ext cx="651510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版本管理记录的不只是代码变化，更是业务范围、优先级、风险和交付状态的变化。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571500" y="1619250"/>
            <a:ext cx="11229380" cy="2000250"/>
            <a:chOff x="571500" y="1619250"/>
            <a:chExt cx="11229380" cy="2000250"/>
          </a:xfrm>
        </p:grpSpPr>
        <p:sp>
          <p:nvSpPr>
            <p:cNvPr id="7" name="Rectangle 7"/>
            <p:cNvSpPr/>
            <p:nvPr/>
          </p:nvSpPr>
          <p:spPr>
            <a:xfrm>
              <a:off x="571500" y="1619250"/>
              <a:ext cx="3333750" cy="2000250"/>
            </a:xfrm>
            <a:prstGeom prst="roundRect">
              <a:avLst>
                <a:gd name="adj" fmla="val 9524"/>
              </a:avLst>
            </a:prstGeom>
            <a:solidFill>
              <a:srgbClr val="E8F0FE"/>
            </a:solidFill>
            <a:ln w="9525">
              <a:solidFill>
                <a:srgbClr val="4285F4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8675" y="1804988"/>
              <a:ext cx="9887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Major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41058" y="2291239"/>
              <a:ext cx="338423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重大版本，包含破坏性变更、架构调整、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1058" y="2548414"/>
              <a:ext cx="245316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核心流程重构或不兼容升级。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6295" y="3060382"/>
              <a:ext cx="81365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4285F4"/>
                  </a:solidFill>
                  <a:latin typeface="Consolas"/>
                  <a:ea typeface="Microsoft YaHei"/>
                  <a:cs typeface="Consolas"/>
                </a:rPr>
                <a:t>v1.0.0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4429125" y="1619250"/>
              <a:ext cx="3333750" cy="2000250"/>
            </a:xfrm>
            <a:prstGeom prst="roundRect">
              <a:avLst>
                <a:gd name="adj" fmla="val 9524"/>
              </a:avLst>
            </a:prstGeom>
            <a:solidFill>
              <a:srgbClr val="FDECEA"/>
            </a:solidFill>
            <a:ln w="9525">
              <a:solidFill>
                <a:srgbClr val="EA4335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686300" y="1804988"/>
              <a:ext cx="988766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Minor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98682" y="2291239"/>
              <a:ext cx="375666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次要版本，包含兼容性新增功能、能力扩展、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98682" y="2548414"/>
              <a:ext cx="2080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流程增强或模块级优化。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93920" y="3060382"/>
              <a:ext cx="750399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EA4335"/>
                  </a:solidFill>
                  <a:latin typeface="Consolas"/>
                  <a:ea typeface="Microsoft YaHei"/>
                  <a:cs typeface="Consolas"/>
                </a:rPr>
                <a:t>v1.1.0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286750" y="1619250"/>
              <a:ext cx="3333750" cy="2000250"/>
            </a:xfrm>
            <a:prstGeom prst="roundRect">
              <a:avLst>
                <a:gd name="adj" fmla="val 9524"/>
              </a:avLst>
            </a:prstGeom>
            <a:solidFill>
              <a:srgbClr val="E6F4EA"/>
            </a:solidFill>
            <a:ln w="9525">
              <a:solidFill>
                <a:srgbClr val="34A853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43925" y="1804988"/>
              <a:ext cx="1006019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Patch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56308" y="2291239"/>
              <a:ext cx="324457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修订版本，包含 Bug 修复、文案调整、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556308" y="2548414"/>
              <a:ext cx="28255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小范围体验优化或非破坏性补丁。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551545" y="3060382"/>
              <a:ext cx="68714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34A853"/>
                  </a:solidFill>
                  <a:latin typeface="Consolas"/>
                  <a:ea typeface="Microsoft YaHei"/>
                  <a:cs typeface="Consolas"/>
                </a:rPr>
                <a:t>v1.1.1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71500" y="4000500"/>
            <a:ext cx="5143500" cy="1905000"/>
            <a:chOff x="571500" y="4000500"/>
            <a:chExt cx="5143500" cy="1905000"/>
          </a:xfrm>
        </p:grpSpPr>
        <p:sp>
          <p:nvSpPr>
            <p:cNvPr id="23" name="Rectangle 23"/>
            <p:cNvSpPr/>
            <p:nvPr/>
          </p:nvSpPr>
          <p:spPr>
            <a:xfrm>
              <a:off x="571500" y="4000500"/>
              <a:ext cx="5143500" cy="1905000"/>
            </a:xfrm>
            <a:prstGeom prst="roundRect">
              <a:avLst>
                <a:gd name="adj" fmla="val 10000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2485" y="4190048"/>
              <a:ext cx="214279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支持的版本动作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1058" y="4662964"/>
              <a:ext cx="935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新增版本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1058" y="4967764"/>
              <a:ext cx="13079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扩展已有版本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058" y="5272564"/>
              <a:ext cx="130794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查看版本状态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031808" y="4662964"/>
              <a:ext cx="935522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版本对比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31808" y="4967764"/>
              <a:ext cx="11217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跨版本搜索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031808" y="5272564"/>
              <a:ext cx="11217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归档旧版本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096000" y="4000500"/>
            <a:ext cx="5524500" cy="1940719"/>
            <a:chOff x="6096000" y="4000500"/>
            <a:chExt cx="5524500" cy="1940719"/>
          </a:xfrm>
        </p:grpSpPr>
        <p:sp>
          <p:nvSpPr>
            <p:cNvPr id="32" name="Rectangle 32"/>
            <p:cNvSpPr/>
            <p:nvPr/>
          </p:nvSpPr>
          <p:spPr>
            <a:xfrm>
              <a:off x="6096000" y="4000500"/>
              <a:ext cx="5524500" cy="1905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356985" y="4190048"/>
              <a:ext cx="1245680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自动维护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365558" y="4662964"/>
              <a:ext cx="31980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根据变更类型建议版本号，并同步维护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365558" y="4967764"/>
              <a:ext cx="494842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`CHANGELOG.md` 和 `docs/prd/README.md` 版本索引。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365558" y="5424964"/>
              <a:ext cx="412908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团队不只需要生成当前代码，还需要知道版本之间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365558" y="5682139"/>
              <a:ext cx="431530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业务上增加了什么、删除了什么、优先级如何变化。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39" name="Ellipse 39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40" name="Ellipse 40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41" name="Ellipse 41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42" name="Ellipse 42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43" name="Ellipse 43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45" name="TextBox 45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10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31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7210" y="527685"/>
            <a:ext cx="687973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把上线后的风险也纳入 AI 协作上下文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grpSp>
        <p:nvGrpSpPr>
          <p:cNvPr id="16" name="Group 16"/>
          <p:cNvGrpSpPr/>
          <p:nvPr/>
        </p:nvGrpSpPr>
        <p:grpSpPr>
          <a:xfrm>
            <a:off x="762000" y="1619250"/>
            <a:ext cx="4762500" cy="3714750"/>
            <a:chOff x="762000" y="1619250"/>
            <a:chExt cx="4762500" cy="3714750"/>
          </a:xfrm>
        </p:grpSpPr>
        <p:sp>
          <p:nvSpPr>
            <p:cNvPr id="6" name="Rectangle 6"/>
            <p:cNvSpPr/>
            <p:nvPr/>
          </p:nvSpPr>
          <p:spPr>
            <a:xfrm>
              <a:off x="762000" y="1619250"/>
              <a:ext cx="4762500" cy="3714750"/>
            </a:xfrm>
            <a:prstGeom prst="roundRect">
              <a:avLst>
                <a:gd name="adj" fmla="val 6154"/>
              </a:avLst>
            </a:prstGeom>
            <a:solidFill>
              <a:srgbClr val="E8F0FE"/>
            </a:solidFill>
            <a:ln w="9525">
              <a:solidFill>
                <a:srgbClr val="4285F4"/>
              </a:solidFill>
            </a:ln>
          </p:spPr>
        </p:sp>
        <p:sp>
          <p:nvSpPr>
            <p:cNvPr id="7" name="Freeform 7"/>
            <p:cNvSpPr/>
            <p:nvPr/>
          </p:nvSpPr>
          <p:spPr>
            <a:xfrm>
              <a:off x="1063300" y="1901500"/>
              <a:ext cx="254651" cy="254651"/>
            </a:xfrm>
            <a:custGeom>
              <a:avLst/>
              <a:gdLst/>
              <a:ahLst/>
              <a:cxnLst/>
              <a:rect l="l" t="t" r="r" b="b"/>
              <a:pathLst>
                <a:path w="254651" h="254651">
                  <a:moveTo>
                    <a:pt x="158841" y="33040"/>
                  </a:moveTo>
                  <a:cubicBezTo>
                    <a:pt x="159489" y="35714"/>
                    <a:pt x="161375" y="37918"/>
                    <a:pt x="163916" y="38972"/>
                  </a:cubicBezTo>
                  <a:cubicBezTo>
                    <a:pt x="166458" y="40026"/>
                    <a:pt x="169350" y="39804"/>
                    <a:pt x="171700" y="38374"/>
                  </a:cubicBezTo>
                  <a:cubicBezTo>
                    <a:pt x="200739" y="20693"/>
                    <a:pt x="233970" y="53911"/>
                    <a:pt x="216289" y="82951"/>
                  </a:cubicBezTo>
                  <a:cubicBezTo>
                    <a:pt x="214859" y="85300"/>
                    <a:pt x="214635" y="88190"/>
                    <a:pt x="215686" y="90731"/>
                  </a:cubicBezTo>
                  <a:cubicBezTo>
                    <a:pt x="216738" y="93272"/>
                    <a:pt x="218939" y="95159"/>
                    <a:pt x="221611" y="95810"/>
                  </a:cubicBezTo>
                  <a:cubicBezTo>
                    <a:pt x="254651" y="103823"/>
                    <a:pt x="254651" y="150816"/>
                    <a:pt x="221611" y="158841"/>
                  </a:cubicBezTo>
                  <a:cubicBezTo>
                    <a:pt x="218937" y="159489"/>
                    <a:pt x="216733" y="161375"/>
                    <a:pt x="215679" y="163916"/>
                  </a:cubicBezTo>
                  <a:cubicBezTo>
                    <a:pt x="214624" y="166458"/>
                    <a:pt x="214847" y="169350"/>
                    <a:pt x="216277" y="171700"/>
                  </a:cubicBezTo>
                  <a:cubicBezTo>
                    <a:pt x="233958" y="200739"/>
                    <a:pt x="200739" y="233970"/>
                    <a:pt x="171700" y="216289"/>
                  </a:cubicBezTo>
                  <a:cubicBezTo>
                    <a:pt x="169351" y="214859"/>
                    <a:pt x="166461" y="214635"/>
                    <a:pt x="163920" y="215686"/>
                  </a:cubicBezTo>
                  <a:cubicBezTo>
                    <a:pt x="161379" y="216738"/>
                    <a:pt x="159492" y="218939"/>
                    <a:pt x="158841" y="221611"/>
                  </a:cubicBezTo>
                  <a:cubicBezTo>
                    <a:pt x="150828" y="254651"/>
                    <a:pt x="103834" y="254651"/>
                    <a:pt x="95810" y="221611"/>
                  </a:cubicBezTo>
                  <a:cubicBezTo>
                    <a:pt x="95162" y="218937"/>
                    <a:pt x="93276" y="216733"/>
                    <a:pt x="90735" y="215679"/>
                  </a:cubicBezTo>
                  <a:cubicBezTo>
                    <a:pt x="88193" y="214624"/>
                    <a:pt x="85301" y="214847"/>
                    <a:pt x="82951" y="216277"/>
                  </a:cubicBezTo>
                  <a:cubicBezTo>
                    <a:pt x="53911" y="233958"/>
                    <a:pt x="20681" y="200739"/>
                    <a:pt x="38362" y="171700"/>
                  </a:cubicBezTo>
                  <a:cubicBezTo>
                    <a:pt x="39792" y="169351"/>
                    <a:pt x="40016" y="166461"/>
                    <a:pt x="38964" y="163920"/>
                  </a:cubicBezTo>
                  <a:cubicBezTo>
                    <a:pt x="37913" y="161379"/>
                    <a:pt x="35712" y="159492"/>
                    <a:pt x="33040" y="158841"/>
                  </a:cubicBezTo>
                  <a:cubicBezTo>
                    <a:pt x="0" y="150828"/>
                    <a:pt x="0" y="103834"/>
                    <a:pt x="33040" y="95810"/>
                  </a:cubicBezTo>
                  <a:cubicBezTo>
                    <a:pt x="35714" y="95162"/>
                    <a:pt x="37918" y="93276"/>
                    <a:pt x="38972" y="90735"/>
                  </a:cubicBezTo>
                  <a:cubicBezTo>
                    <a:pt x="40026" y="88193"/>
                    <a:pt x="39804" y="85301"/>
                    <a:pt x="38374" y="82951"/>
                  </a:cubicBezTo>
                  <a:cubicBezTo>
                    <a:pt x="20693" y="53911"/>
                    <a:pt x="53911" y="20681"/>
                    <a:pt x="82951" y="38362"/>
                  </a:cubicBezTo>
                  <a:cubicBezTo>
                    <a:pt x="85298" y="39803"/>
                    <a:pt x="88193" y="40033"/>
                    <a:pt x="90737" y="38980"/>
                  </a:cubicBezTo>
                  <a:cubicBezTo>
                    <a:pt x="93282" y="37927"/>
                    <a:pt x="95168" y="35718"/>
                    <a:pt x="95810" y="33040"/>
                  </a:cubicBezTo>
                  <a:cubicBezTo>
                    <a:pt x="103822" y="0"/>
                    <a:pt x="150816" y="0"/>
                    <a:pt x="158841" y="33040"/>
                  </a:cubicBezTo>
                  <a:close/>
                  <a:moveTo>
                    <a:pt x="127325" y="91607"/>
                  </a:moveTo>
                  <a:cubicBezTo>
                    <a:pt x="107599" y="91607"/>
                    <a:pt x="91607" y="107599"/>
                    <a:pt x="91607" y="127325"/>
                  </a:cubicBezTo>
                  <a:cubicBezTo>
                    <a:pt x="91607" y="147052"/>
                    <a:pt x="107599" y="163044"/>
                    <a:pt x="127325" y="163044"/>
                  </a:cubicBezTo>
                  <a:cubicBezTo>
                    <a:pt x="147052" y="163044"/>
                    <a:pt x="163044" y="147052"/>
                    <a:pt x="163044" y="127325"/>
                  </a:cubicBezTo>
                  <a:cubicBezTo>
                    <a:pt x="163044" y="107599"/>
                    <a:pt x="147052" y="91607"/>
                    <a:pt x="127325" y="91607"/>
                  </a:cubicBezTo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47800" y="1852612"/>
              <a:ext cx="1644348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`ops.md`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5855" y="2473642"/>
              <a:ext cx="9905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环境变量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5855" y="2902268"/>
              <a:ext cx="9905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部署步骤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5855" y="3330892"/>
              <a:ext cx="9905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监控告警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5855" y="3759518"/>
              <a:ext cx="9905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故障排查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25855" y="4188142"/>
              <a:ext cx="9905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回滚方案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43000" y="4714875"/>
              <a:ext cx="4000500" cy="381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823561" y="4824889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上线前就要准备部署与监控依据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667500" y="1619250"/>
            <a:ext cx="4762500" cy="3714750"/>
            <a:chOff x="6667500" y="1619250"/>
            <a:chExt cx="4762500" cy="3714750"/>
          </a:xfrm>
        </p:grpSpPr>
        <p:sp>
          <p:nvSpPr>
            <p:cNvPr id="17" name="Rectangle 17"/>
            <p:cNvSpPr/>
            <p:nvPr/>
          </p:nvSpPr>
          <p:spPr>
            <a:xfrm>
              <a:off x="6667500" y="1619250"/>
              <a:ext cx="4762500" cy="3714750"/>
            </a:xfrm>
            <a:prstGeom prst="roundRect">
              <a:avLst>
                <a:gd name="adj" fmla="val 6154"/>
              </a:avLst>
            </a:prstGeom>
            <a:solidFill>
              <a:srgbClr val="FDECEA"/>
            </a:solidFill>
            <a:ln w="9525">
              <a:solidFill>
                <a:srgbClr val="EA4335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6971671" y="1909762"/>
              <a:ext cx="248896" cy="238252"/>
            </a:xfrm>
            <a:custGeom>
              <a:avLst/>
              <a:gdLst/>
              <a:ahLst/>
              <a:cxnLst/>
              <a:rect l="l" t="t" r="r" b="b"/>
              <a:pathLst>
                <a:path w="248896" h="238252">
                  <a:moveTo>
                    <a:pt x="124430" y="0"/>
                  </a:moveTo>
                  <a:lnTo>
                    <a:pt x="125835" y="83"/>
                  </a:lnTo>
                  <a:lnTo>
                    <a:pt x="126537" y="179"/>
                  </a:lnTo>
                  <a:lnTo>
                    <a:pt x="127263" y="333"/>
                  </a:lnTo>
                  <a:lnTo>
                    <a:pt x="128585" y="738"/>
                  </a:lnTo>
                  <a:cubicBezTo>
                    <a:pt x="129498" y="1075"/>
                    <a:pt x="130366" y="1523"/>
                    <a:pt x="131169" y="2072"/>
                  </a:cubicBezTo>
                  <a:lnTo>
                    <a:pt x="132407" y="3048"/>
                  </a:lnTo>
                  <a:lnTo>
                    <a:pt x="135443" y="5644"/>
                  </a:lnTo>
                  <a:cubicBezTo>
                    <a:pt x="159462" y="25593"/>
                    <a:pt x="189817" y="36306"/>
                    <a:pt x="221037" y="35850"/>
                  </a:cubicBezTo>
                  <a:lnTo>
                    <a:pt x="225109" y="35731"/>
                  </a:lnTo>
                  <a:cubicBezTo>
                    <a:pt x="230588" y="35481"/>
                    <a:pt x="235528" y="39006"/>
                    <a:pt x="237075" y="44267"/>
                  </a:cubicBezTo>
                  <a:cubicBezTo>
                    <a:pt x="248896" y="84478"/>
                    <a:pt x="243904" y="127764"/>
                    <a:pt x="223241" y="164229"/>
                  </a:cubicBezTo>
                  <a:cubicBezTo>
                    <a:pt x="202579" y="200693"/>
                    <a:pt x="168012" y="227220"/>
                    <a:pt x="127442" y="237744"/>
                  </a:cubicBezTo>
                  <a:cubicBezTo>
                    <a:pt x="125482" y="238252"/>
                    <a:pt x="123425" y="238252"/>
                    <a:pt x="121465" y="237744"/>
                  </a:cubicBezTo>
                  <a:cubicBezTo>
                    <a:pt x="80893" y="227223"/>
                    <a:pt x="46323" y="200697"/>
                    <a:pt x="25658" y="164232"/>
                  </a:cubicBezTo>
                  <a:cubicBezTo>
                    <a:pt x="4993" y="127767"/>
                    <a:pt x="0" y="84480"/>
                    <a:pt x="11820" y="44267"/>
                  </a:cubicBezTo>
                  <a:cubicBezTo>
                    <a:pt x="13367" y="39006"/>
                    <a:pt x="18308" y="35481"/>
                    <a:pt x="23786" y="35731"/>
                  </a:cubicBezTo>
                  <a:cubicBezTo>
                    <a:pt x="56379" y="37221"/>
                    <a:pt x="88355" y="26491"/>
                    <a:pt x="113452" y="5644"/>
                  </a:cubicBezTo>
                  <a:lnTo>
                    <a:pt x="116584" y="2965"/>
                  </a:lnTo>
                  <a:lnTo>
                    <a:pt x="117727" y="2072"/>
                  </a:lnTo>
                  <a:cubicBezTo>
                    <a:pt x="118530" y="1523"/>
                    <a:pt x="119397" y="1075"/>
                    <a:pt x="120310" y="738"/>
                  </a:cubicBezTo>
                  <a:lnTo>
                    <a:pt x="121644" y="333"/>
                  </a:lnTo>
                  <a:cubicBezTo>
                    <a:pt x="122110" y="221"/>
                    <a:pt x="122584" y="137"/>
                    <a:pt x="123061" y="83"/>
                  </a:cubicBezTo>
                  <a:lnTo>
                    <a:pt x="124430" y="0"/>
                  </a:lnTo>
                  <a:close/>
                  <a:moveTo>
                    <a:pt x="168602" y="86832"/>
                  </a:moveTo>
                  <a:cubicBezTo>
                    <a:pt x="166369" y="84597"/>
                    <a:pt x="163338" y="83340"/>
                    <a:pt x="160178" y="83340"/>
                  </a:cubicBezTo>
                  <a:cubicBezTo>
                    <a:pt x="157018" y="83340"/>
                    <a:pt x="153988" y="84597"/>
                    <a:pt x="151755" y="86832"/>
                  </a:cubicBezTo>
                  <a:lnTo>
                    <a:pt x="112547" y="126028"/>
                  </a:lnTo>
                  <a:lnTo>
                    <a:pt x="97153" y="110645"/>
                  </a:lnTo>
                  <a:lnTo>
                    <a:pt x="96033" y="109657"/>
                  </a:lnTo>
                  <a:cubicBezTo>
                    <a:pt x="91067" y="105816"/>
                    <a:pt x="83972" y="106492"/>
                    <a:pt x="79820" y="111201"/>
                  </a:cubicBezTo>
                  <a:cubicBezTo>
                    <a:pt x="75668" y="115910"/>
                    <a:pt x="75885" y="123034"/>
                    <a:pt x="80317" y="127480"/>
                  </a:cubicBezTo>
                  <a:lnTo>
                    <a:pt x="104130" y="151293"/>
                  </a:lnTo>
                  <a:lnTo>
                    <a:pt x="105249" y="152281"/>
                  </a:lnTo>
                  <a:cubicBezTo>
                    <a:pt x="109989" y="155958"/>
                    <a:pt x="116723" y="155534"/>
                    <a:pt x="120965" y="151293"/>
                  </a:cubicBezTo>
                  <a:lnTo>
                    <a:pt x="168590" y="103668"/>
                  </a:lnTo>
                  <a:lnTo>
                    <a:pt x="169578" y="102549"/>
                  </a:lnTo>
                  <a:cubicBezTo>
                    <a:pt x="173255" y="97809"/>
                    <a:pt x="172831" y="91074"/>
                    <a:pt x="168590" y="86832"/>
                  </a:cubicBezTo>
                  <a:close/>
                </a:path>
              </a:pathLst>
            </a:custGeom>
            <a:solidFill>
              <a:srgbClr val="EA433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353300" y="1852612"/>
              <a:ext cx="2420695" cy="457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`incident.md`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031355" y="2473642"/>
              <a:ext cx="9905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事故概要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31355" y="2902268"/>
              <a:ext cx="7933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时间线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031355" y="3330892"/>
              <a:ext cx="9905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影响评估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031355" y="3759518"/>
              <a:ext cx="17496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根因分析 / 5 Why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031355" y="4188142"/>
              <a:ext cx="99055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• 预防措施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048500" y="4714875"/>
              <a:ext cx="4000500" cy="381000"/>
            </a:xfrm>
            <a:prstGeom prst="roundRect">
              <a:avLst>
                <a:gd name="adj" fmla="val 35000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729061" y="4824889"/>
              <a:ext cx="263937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出问题后也要有复盘与改进依据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2667000" y="5667375"/>
            <a:ext cx="6858000" cy="495300"/>
            <a:chOff x="2667000" y="5667375"/>
            <a:chExt cx="6858000" cy="495300"/>
          </a:xfrm>
        </p:grpSpPr>
        <p:sp>
          <p:nvSpPr>
            <p:cNvPr id="28" name="Rectangle 28"/>
            <p:cNvSpPr/>
            <p:nvPr/>
          </p:nvSpPr>
          <p:spPr>
            <a:xfrm>
              <a:off x="2667000" y="5667375"/>
              <a:ext cx="6858000" cy="495300"/>
            </a:xfrm>
            <a:prstGeom prst="roundRect">
              <a:avLst>
                <a:gd name="adj" fmla="val 38462"/>
              </a:avLst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61648" y="5819775"/>
              <a:ext cx="486870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生产环境项目上线前必须补齐运维与测试文档。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31" name="Ellipse 31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32" name="Ellipse 32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37" name="TextBox 37"/>
          <p:cNvSpPr txBox="1"/>
          <p:nvPr/>
        </p:nvSpPr>
        <p:spPr>
          <a:xfrm>
            <a:off x="11515153" y="6506528"/>
            <a:ext cx="118682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11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27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560070"/>
            <a:ext cx="8526018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每份文档只回答一个问题，合起来覆盖完整交付链路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571500" y="1428750"/>
            <a:ext cx="7239000" cy="4286250"/>
            <a:chOff x="571500" y="1428750"/>
            <a:chExt cx="7239000" cy="4286250"/>
          </a:xfrm>
        </p:grpSpPr>
        <p:sp>
          <p:nvSpPr>
            <p:cNvPr id="6" name="Rectangle 6"/>
            <p:cNvSpPr/>
            <p:nvPr/>
          </p:nvSpPr>
          <p:spPr>
            <a:xfrm>
              <a:off x="571500" y="1428750"/>
              <a:ext cx="7239000" cy="428625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</p:grpSp>
      <p:grpSp>
        <p:nvGrpSpPr>
          <p:cNvPr id="14" name="Group 14"/>
          <p:cNvGrpSpPr/>
          <p:nvPr/>
        </p:nvGrpSpPr>
        <p:grpSpPr>
          <a:xfrm>
            <a:off x="571500" y="1428750"/>
            <a:ext cx="7239000" cy="495300"/>
            <a:chOff x="571500" y="1428750"/>
            <a:chExt cx="7239000" cy="495300"/>
          </a:xfrm>
        </p:grpSpPr>
        <p:sp>
          <p:nvSpPr>
            <p:cNvPr id="8" name="Rectangle 8"/>
            <p:cNvSpPr/>
            <p:nvPr/>
          </p:nvSpPr>
          <p:spPr>
            <a:xfrm>
              <a:off x="571500" y="1428750"/>
              <a:ext cx="2095500" cy="495300"/>
            </a:xfrm>
            <a:prstGeom prst="roundRect">
              <a:avLst>
                <a:gd name="adj" fmla="val 38462"/>
              </a:avLst>
            </a:prstGeom>
            <a:solidFill>
              <a:srgbClr val="E8F0FE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2667000" y="1428750"/>
              <a:ext cx="3048000" cy="4953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5715000" y="1428750"/>
              <a:ext cx="2095500" cy="495300"/>
            </a:xfrm>
            <a:prstGeom prst="roundRect">
              <a:avLst>
                <a:gd name="adj" fmla="val 38462"/>
              </a:avLst>
            </a:prstGeom>
            <a:solidFill>
              <a:srgbClr val="E6F4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45263" y="1574482"/>
              <a:ext cx="54797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文档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537466" y="1574482"/>
              <a:ext cx="130706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回答的问题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35732" y="15744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所属阶段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71500" y="1428750"/>
            <a:ext cx="7239000" cy="4286250"/>
            <a:chOff x="571500" y="1428750"/>
            <a:chExt cx="7239000" cy="4286250"/>
          </a:xfrm>
        </p:grpSpPr>
        <p:sp>
          <p:nvSpPr>
            <p:cNvPr id="15" name="Line 15"/>
            <p:cNvSpPr/>
            <p:nvPr/>
          </p:nvSpPr>
          <p:spPr>
            <a:xfrm>
              <a:off x="571500" y="23812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571500" y="28575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571500" y="33337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571500" y="38100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571500" y="42862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571500" y="476250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71500" y="52387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667000" y="142875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715000" y="1428750"/>
              <a:ext cx="9525" cy="4286250"/>
            </a:xfrm>
            <a:custGeom>
              <a:avLst/>
              <a:gdLst/>
              <a:ahLst/>
              <a:cxnLst/>
              <a:rect l="l" t="t" r="r" b="b"/>
              <a:pathLst>
                <a:path w="9525" h="4286250">
                  <a:moveTo>
                    <a:pt x="0" y="0"/>
                  </a:moveTo>
                  <a:lnTo>
                    <a:pt x="0" y="4286250"/>
                  </a:lnTo>
                </a:path>
              </a:pathLst>
            </a:custGeom>
            <a:noFill/>
            <a:ln w="9525">
              <a:solidFill>
                <a:srgbClr val="E8EAED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2010" y="2099310"/>
              <a:ext cx="8366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`prd.md`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937510" y="209931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做什么、为什么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85510" y="20993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需求阶段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2010" y="257556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`design.md`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937510" y="257556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长什么样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985510" y="257556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设计阶段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2010" y="3051810"/>
              <a:ext cx="8366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`dev.md`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37510" y="30518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如何实现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85510" y="30518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开发阶段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2010" y="3528060"/>
              <a:ext cx="8892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`plan.md`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937510" y="352806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何时做、谁来做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985510" y="352806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计划阶段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2010" y="4004310"/>
              <a:ext cx="9330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`test.md`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37510" y="40043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如何验证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985510" y="40043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测试阶段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42010" y="4480560"/>
              <a:ext cx="8366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`ops.md`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937510" y="448056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如何部署和运维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985510" y="448056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运维阶段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2010" y="4956810"/>
              <a:ext cx="145008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`CHANGELOG.md`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937510" y="49568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版本间变更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985510" y="49568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迭代阶段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2010" y="5433060"/>
              <a:ext cx="11258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`CLAUDE.md`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37510" y="5433060"/>
              <a:ext cx="12835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AI 可读项目总纲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5985510" y="543306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协作阶段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8191500" y="1619250"/>
            <a:ext cx="3618357" cy="3619500"/>
            <a:chOff x="8191500" y="1619250"/>
            <a:chExt cx="3618357" cy="3619500"/>
          </a:xfrm>
        </p:grpSpPr>
        <p:sp>
          <p:nvSpPr>
            <p:cNvPr id="49" name="Rectangle 49"/>
            <p:cNvSpPr/>
            <p:nvPr/>
          </p:nvSpPr>
          <p:spPr>
            <a:xfrm>
              <a:off x="8191500" y="1619250"/>
              <a:ext cx="3238500" cy="1047750"/>
            </a:xfrm>
            <a:prstGeom prst="roundRect">
              <a:avLst>
                <a:gd name="adj" fmla="val 16364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10575" y="1790700"/>
              <a:ext cx="109623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不要混写 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14385" y="2137410"/>
              <a:ext cx="24665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不把技术方案写进 `prd.md`；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14385" y="2385060"/>
              <a:ext cx="24665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不把用户故事写进 `dev.md`。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191500" y="2905125"/>
              <a:ext cx="3238500" cy="1047750"/>
            </a:xfrm>
            <a:prstGeom prst="roundRect">
              <a:avLst>
                <a:gd name="adj" fmla="val 16364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410575" y="3076575"/>
              <a:ext cx="11537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不要混写 2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414385" y="3423285"/>
              <a:ext cx="33954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不把数据模型和接口定义写进 `plan.md`；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414385" y="3670935"/>
              <a:ext cx="24665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不把部署流程写进 `dev.md`。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191500" y="4191000"/>
              <a:ext cx="3238500" cy="1047750"/>
            </a:xfrm>
            <a:prstGeom prst="roundRect">
              <a:avLst>
                <a:gd name="adj" fmla="val 16364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410575" y="4362450"/>
              <a:ext cx="115373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不要混写 3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14385" y="4709160"/>
              <a:ext cx="24665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不把测试用例写进 `prd.md`。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61" name="Ellipse 61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67" name="TextBox 67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12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48" grpId="0"/>
      <p:bldP spid="6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39115" y="543878"/>
            <a:ext cx="929352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怎么用 spec-workflow：从一句需求到完整文档链路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grpSp>
        <p:nvGrpSpPr>
          <p:cNvPr id="20" name="Group 20"/>
          <p:cNvGrpSpPr/>
          <p:nvPr/>
        </p:nvGrpSpPr>
        <p:grpSpPr>
          <a:xfrm>
            <a:off x="571500" y="1524000"/>
            <a:ext cx="6640830" cy="4743450"/>
            <a:chOff x="571500" y="1524000"/>
            <a:chExt cx="6640830" cy="4743450"/>
          </a:xfrm>
        </p:grpSpPr>
        <p:sp>
          <p:nvSpPr>
            <p:cNvPr id="6" name="Rectangle 6"/>
            <p:cNvSpPr/>
            <p:nvPr/>
          </p:nvSpPr>
          <p:spPr>
            <a:xfrm>
              <a:off x="571500" y="1524000"/>
              <a:ext cx="5334000" cy="4476750"/>
            </a:xfrm>
            <a:prstGeom prst="roundRect">
              <a:avLst>
                <a:gd name="adj" fmla="val 4255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30580" y="1725930"/>
              <a:ext cx="193727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6 步操作流程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84885" y="2251710"/>
              <a:ext cx="47537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1. 安装 Skill：将 `spec-workflow` 放入 Claude Skills 目录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23010" y="2499360"/>
              <a:ext cx="33691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如 `~/.claude/skills/spec-workflow`。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84885" y="2956560"/>
              <a:ext cx="453466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2. 在目标项目中启动 Claude Code，让 AI 能读取真实目录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23010" y="320421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结构和代码上下文。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4885" y="3661410"/>
              <a:ext cx="47537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3. 输入需求或指令：用 `/spec-workflow` 描述版本目标、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23010" y="3909060"/>
              <a:ext cx="3886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业务场景、用户角色、功能范围、优先级和约束。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84885" y="4366260"/>
              <a:ext cx="465734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4. 先确认 PRD：AI 先澄清需求并生成 `prd.md`，用户确认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23010" y="461391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后再进入设计和技术方案。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84885" y="5071110"/>
              <a:ext cx="481507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5. 继续生成完整链路：依次生成 `design.md`、`dev.md`、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23010" y="5318760"/>
              <a:ext cx="59893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`plan.md`、`test.md`、`ops.md`、`CHANGELOG.md`、`CLAUDE.md`。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84885" y="5775960"/>
              <a:ext cx="48326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6. 纳入版本管理：将版本目录、变更日志和项目上下文随代码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23010" y="6023610"/>
              <a:ext cx="1432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一起评审和维护。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381750" y="1524000"/>
            <a:ext cx="5238750" cy="4510088"/>
            <a:chOff x="6381750" y="1524000"/>
            <a:chExt cx="5238750" cy="4510088"/>
          </a:xfrm>
        </p:grpSpPr>
        <p:sp>
          <p:nvSpPr>
            <p:cNvPr id="21" name="Rectangle 21"/>
            <p:cNvSpPr/>
            <p:nvPr/>
          </p:nvSpPr>
          <p:spPr>
            <a:xfrm>
              <a:off x="6381750" y="1524000"/>
              <a:ext cx="5238750" cy="4476750"/>
            </a:xfrm>
            <a:prstGeom prst="roundRect">
              <a:avLst>
                <a:gd name="adj" fmla="val 4255"/>
              </a:avLst>
            </a:prstGeom>
            <a:solidFill>
              <a:srgbClr val="1A237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640830" y="1725930"/>
              <a:ext cx="1921173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示例 Prompt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667500" y="2238375"/>
              <a:ext cx="4667250" cy="3143250"/>
            </a:xfrm>
            <a:prstGeom prst="roundRect">
              <a:avLst>
                <a:gd name="adj" fmla="val 4848"/>
              </a:avLst>
            </a:prstGeom>
            <a:solidFill>
              <a:srgbClr val="0F172A"/>
            </a:solidFill>
            <a:ln w="9525">
              <a:solidFill>
                <a:srgbClr val="4285F4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888480" y="2473642"/>
              <a:ext cx="36128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/spec-workflow 我想做用户认证版本，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88480" y="2759392"/>
              <a:ext cx="33861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包含账号密码登录、短信验证码登录、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88480" y="3045142"/>
              <a:ext cx="358330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注册、找回密码；先完成登录注册闭环，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88480" y="3330892"/>
              <a:ext cx="27946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再补安全设置和异常登录提醒，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88480" y="3616642"/>
              <a:ext cx="27847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请先帮我澄清需求并生成 PRD。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001125" y="5381625"/>
              <a:ext cx="1" cy="257175"/>
            </a:xfrm>
            <a:prstGeom prst="line">
              <a:avLst/>
            </a:prstGeom>
            <a:noFill/>
            <a:ln w="28575">
              <a:solidFill>
                <a:srgbClr val="4285F4"/>
              </a:solidFill>
              <a:tailEnd type="triangle" w="lg" len="lg"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165735" y="5759768"/>
              <a:ext cx="16707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确认 → 扩展 → 维护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32" name="Ellipse 32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13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150"/>
          </a:xfrm>
          <a:prstGeom prst="rect">
            <a:avLst/>
          </a:prstGeom>
          <a:gradFill>
            <a:gsLst>
              <a:gs pos="0">
                <a:srgbClr val="4285F4"/>
              </a:gs>
              <a:gs pos="33000">
                <a:srgbClr val="EA4335"/>
              </a:gs>
              <a:gs pos="66000">
                <a:srgbClr val="FBBC04"/>
              </a:gs>
              <a:gs pos="100000">
                <a:srgbClr val="34A853"/>
              </a:gs>
            </a:gsLst>
            <a:lin ang="0" scaled="1"/>
          </a:gra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41020" y="560070"/>
            <a:ext cx="7109041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让后来接手的人和 AI，都先读规格再动代码</a:t>
            </a:r>
          </a:p>
        </p:txBody>
      </p:sp>
      <p:sp>
        <p:nvSpPr>
          <p:cNvPr id="5" name="Rectangle 5"/>
          <p:cNvSpPr/>
          <p:nvPr/>
        </p:nvSpPr>
        <p:spPr>
          <a:xfrm>
            <a:off x="571500" y="952500"/>
            <a:ext cx="1333500" cy="381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556260" y="1089660"/>
            <a:ext cx="1783080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把协作规则写进仓库。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71500" y="1524000"/>
            <a:ext cx="13361670" cy="2266950"/>
            <a:chOff x="571500" y="1524000"/>
            <a:chExt cx="13361670" cy="2266950"/>
          </a:xfrm>
        </p:grpSpPr>
        <p:sp>
          <p:nvSpPr>
            <p:cNvPr id="7" name="Rectangle 7"/>
            <p:cNvSpPr/>
            <p:nvPr/>
          </p:nvSpPr>
          <p:spPr>
            <a:xfrm>
              <a:off x="571500" y="1524000"/>
              <a:ext cx="11049000" cy="1905000"/>
            </a:xfrm>
            <a:prstGeom prst="roundRect">
              <a:avLst>
                <a:gd name="adj" fmla="val 10000"/>
              </a:avLst>
            </a:prstGeom>
            <a:solidFill>
              <a:srgbClr val="F8F9FA"/>
            </a:solidFill>
            <a:ln w="9525">
              <a:solidFill>
                <a:srgbClr val="E8EAED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30580" y="1725930"/>
              <a:ext cx="1293195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5 条规则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9635" y="2251710"/>
              <a:ext cx="84341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1. 先确认版本：如果用户没有说明基于哪个版本开发，Claude Code 必须先询问，如 `docs/prd/v1.2.0/`。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89635" y="2575560"/>
              <a:ext cx="1304353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2. 先读规格文档：实现前必须阅读 `prd.md`、`design.md`、`dev.md`、`plan.md`、`test.md`，涉及发布时还要读 `ops.md`、`CHANGELOG.md` 和版本索引。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89635" y="2899410"/>
              <a:ext cx="948575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3. 明确优先级：用户本轮明确指令优先，其次是对应版本规格文档，再是根目录 `CLAUDE.md`，最后才是当前代码实现。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89635" y="3223260"/>
              <a:ext cx="128770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4. 限制实现边界：不得实现 `prd.md` 未定义的功能；UI 以 `design.md` 为准；接口、数据结构、数据库和文件影响以 `dev.md` 为准；验收以 `test.md` 为准。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89635" y="3547110"/>
              <a:ext cx="88548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5. 改完同步文档：代码改动后检查是否需要同步更新 PRD、设计、技术方案、测试、运维、变更日志和版本索引。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71500" y="3762375"/>
            <a:ext cx="5238750" cy="2381250"/>
            <a:chOff x="571500" y="3762375"/>
            <a:chExt cx="5238750" cy="2381250"/>
          </a:xfrm>
        </p:grpSpPr>
        <p:sp>
          <p:nvSpPr>
            <p:cNvPr id="15" name="Rectangle 15"/>
            <p:cNvSpPr/>
            <p:nvPr/>
          </p:nvSpPr>
          <p:spPr>
            <a:xfrm>
              <a:off x="571500" y="3762375"/>
              <a:ext cx="5238750" cy="2381250"/>
            </a:xfrm>
            <a:prstGeom prst="roundRect">
              <a:avLst>
                <a:gd name="adj" fmla="val 8000"/>
              </a:avLst>
            </a:prstGeom>
            <a:solidFill>
              <a:srgbClr val="0F172A"/>
            </a:solidFill>
            <a:ln w="9525">
              <a:solidFill>
                <a:srgbClr val="4285F4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95338" y="3974306"/>
              <a:ext cx="23288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本项目采用规格文档驱动开发。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95338" y="4241006"/>
              <a:ext cx="32900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Claude Code 在修改代码、生成代码、重构、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5338" y="4507706"/>
              <a:ext cx="29860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补测试或调整配置前，必须先读取并遵循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5338" y="477440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对应版本的规格文档。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5338" y="5174456"/>
              <a:ext cx="34790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如果用户没有明确说明本次开发基于哪个版本，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5338" y="5441156"/>
              <a:ext cx="31503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必须先询问：本次开发基于哪个规格版本？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95338" y="5707856"/>
              <a:ext cx="1975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E8F0FE"/>
                  </a:solidFill>
                  <a:latin typeface="Consolas"/>
                  <a:ea typeface="Microsoft YaHei"/>
                  <a:cs typeface="Consolas"/>
                </a:rPr>
                <a:t>例如 docs/prd/v1.2.0/。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286500" y="3762375"/>
            <a:ext cx="5334000" cy="2381250"/>
            <a:chOff x="6286500" y="3762375"/>
            <a:chExt cx="5334000" cy="2381250"/>
          </a:xfrm>
        </p:grpSpPr>
        <p:sp>
          <p:nvSpPr>
            <p:cNvPr id="24" name="Rectangle 24"/>
            <p:cNvSpPr/>
            <p:nvPr/>
          </p:nvSpPr>
          <p:spPr>
            <a:xfrm>
              <a:off x="6286500" y="3762375"/>
              <a:ext cx="5334000" cy="23812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8EAED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549390" y="3901440"/>
              <a:ext cx="197796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推荐任务提示词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557010" y="4394835"/>
              <a:ext cx="35619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请基于 docs/prd/v1.2.0/ 下的规格文档实现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57010" y="4661535"/>
              <a:ext cx="315010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用户登录功能。实现前先阅读 prd.md、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57010" y="4928235"/>
              <a:ext cx="35794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design.md、dev.md、plan.md、test.md。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57010" y="5194935"/>
              <a:ext cx="35356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不要实现规格外功能。如果规格文档之间存在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57010" y="5461635"/>
              <a:ext cx="40614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冲突，先询问我。完成后同步更新测试和相关文档。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32" name="Ellipse 32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33" name="Ellipse 33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35" name="Ellipse 35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36" name="Ellipse 36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  <p:sp>
        <p:nvSpPr>
          <p:cNvPr id="38" name="TextBox 38"/>
          <p:cNvSpPr txBox="1"/>
          <p:nvPr/>
        </p:nvSpPr>
        <p:spPr>
          <a:xfrm>
            <a:off x="11476815" y="6506528"/>
            <a:ext cx="15702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9AA0A6"/>
                </a:solidFill>
                <a:latin typeface="Arial"/>
                <a:ea typeface="Microsoft YaHei"/>
                <a:cs typeface="Arial"/>
              </a:rPr>
              <a:t>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3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FFFFF"/>
              </a:gs>
              <a:gs pos="50000">
                <a:srgbClr val="F8F9FA"/>
              </a:gs>
              <a:gs pos="100000">
                <a:srgbClr val="E8F5E9">
                  <a:alpha val="50000"/>
                </a:srgbClr>
              </a:gs>
            </a:gsLst>
            <a:lin ang="2700000" scaled="1"/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381000" y="381000"/>
            <a:ext cx="1143000" cy="1143000"/>
          </a:xfrm>
          <a:prstGeom prst="ellipse">
            <a:avLst/>
          </a:prstGeom>
          <a:solidFill>
            <a:srgbClr val="4285F4">
              <a:alpha val="12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810875" y="523875"/>
            <a:ext cx="857250" cy="857250"/>
          </a:xfrm>
          <a:prstGeom prst="ellipse">
            <a:avLst/>
          </a:prstGeom>
          <a:solidFill>
            <a:srgbClr val="EA4335">
              <a:alpha val="12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476250" y="5429250"/>
            <a:ext cx="952500" cy="952500"/>
          </a:xfrm>
          <a:prstGeom prst="ellipse">
            <a:avLst/>
          </a:prstGeom>
          <a:solidFill>
            <a:srgbClr val="FBBC04">
              <a:alpha val="12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10715625" y="5381625"/>
            <a:ext cx="1047750" cy="1047750"/>
          </a:xfrm>
          <a:prstGeom prst="ellipse">
            <a:avLst/>
          </a:prstGeom>
          <a:solidFill>
            <a:srgbClr val="34A853">
              <a:alpha val="12000"/>
            </a:srgbClr>
          </a:solidFill>
          <a:ln>
            <a:noFill/>
          </a:ln>
        </p:spPr>
      </p:sp>
      <p:sp>
        <p:nvSpPr>
          <p:cNvPr id="7" name="Rectangle 7"/>
          <p:cNvSpPr/>
          <p:nvPr/>
        </p:nvSpPr>
        <p:spPr>
          <a:xfrm>
            <a:off x="1714500" y="1047750"/>
            <a:ext cx="8763000" cy="47625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8EAED"/>
            </a:solidFill>
          </a:ln>
        </p:spPr>
      </p:sp>
      <p:sp>
        <p:nvSpPr>
          <p:cNvPr id="8" name="TextBox 8"/>
          <p:cNvSpPr txBox="1"/>
          <p:nvPr/>
        </p:nvSpPr>
        <p:spPr>
          <a:xfrm>
            <a:off x="-596725" y="1435418"/>
            <a:ext cx="13385449" cy="8839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350" b="1" dirty="0">
                <a:gradFill>
                  <a:gsLst>
                    <a:gs pos="0">
                      <a:srgbClr val="1A73E8"/>
                    </a:gs>
                    <a:gs pos="100000">
                      <a:srgbClr val="0D47A1"/>
                    </a:gs>
                  </a:gsLst>
                  <a:lin ang="0" scaled="1"/>
                </a:gradFill>
                <a:latin typeface="Arial"/>
                <a:ea typeface="Microsoft YaHei"/>
                <a:cs typeface="Arial"/>
              </a:rPr>
              <a:t>从一个版本开始，把 spec-workflow 跑起来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71750" y="2200275"/>
            <a:ext cx="70485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dirty="0">
                <a:solidFill>
                  <a:srgbClr val="5F6368"/>
                </a:solidFill>
                <a:latin typeface="Arial"/>
                <a:ea typeface="Microsoft YaHei"/>
                <a:cs typeface="Arial"/>
              </a:rPr>
              <a:t>推广目标不是增加流程负担，而是减少沟通成本、返工成本和上线风险。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2571750" y="3429000"/>
            <a:ext cx="7048500" cy="1"/>
            <a:chOff x="2571750" y="3429000"/>
            <a:chExt cx="7048500" cy="1"/>
          </a:xfrm>
        </p:grpSpPr>
        <p:sp>
          <p:nvSpPr>
            <p:cNvPr id="10" name="Line 10"/>
            <p:cNvSpPr/>
            <p:nvPr/>
          </p:nvSpPr>
          <p:spPr>
            <a:xfrm>
              <a:off x="2571750" y="3429000"/>
              <a:ext cx="7048500" cy="1"/>
            </a:xfrm>
            <a:prstGeom prst="line">
              <a:avLst/>
            </a:prstGeom>
            <a:noFill/>
            <a:ln w="38100">
              <a:solidFill>
                <a:srgbClr val="4285F4"/>
              </a:solidFill>
              <a:tailEnd type="triangle" w="lg" len="lg"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2080260" y="3200400"/>
            <a:ext cx="2133600" cy="1447800"/>
            <a:chOff x="2080260" y="3200400"/>
            <a:chExt cx="2133600" cy="1447800"/>
          </a:xfrm>
        </p:grpSpPr>
        <p:sp>
          <p:nvSpPr>
            <p:cNvPr id="12" name="Ellipse 12"/>
            <p:cNvSpPr/>
            <p:nvPr/>
          </p:nvSpPr>
          <p:spPr>
            <a:xfrm>
              <a:off x="2628900" y="3200400"/>
              <a:ext cx="457200" cy="4572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814657" y="3375660"/>
              <a:ext cx="85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65045" y="38223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试点阶段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80260" y="4156710"/>
              <a:ext cx="21336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选择一个新功能或小版本，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80260" y="4404360"/>
              <a:ext cx="160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生成完整文档链路。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699510" y="3200400"/>
            <a:ext cx="2457831" cy="1695450"/>
            <a:chOff x="3699510" y="3200400"/>
            <a:chExt cx="2457831" cy="1695450"/>
          </a:xfrm>
        </p:grpSpPr>
        <p:sp>
          <p:nvSpPr>
            <p:cNvPr id="18" name="Ellipse 18"/>
            <p:cNvSpPr/>
            <p:nvPr/>
          </p:nvSpPr>
          <p:spPr>
            <a:xfrm>
              <a:off x="4248150" y="3200400"/>
              <a:ext cx="457200" cy="4572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410904" y="33756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2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884295" y="38223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协作阶段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99510" y="4156710"/>
              <a:ext cx="19495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产品确认 PRD，研发确认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99510" y="4404360"/>
              <a:ext cx="24578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dev.md，测试补充 test.md，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699510" y="4652010"/>
              <a:ext cx="15727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运维确认 ops.md。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18760" y="3200400"/>
            <a:ext cx="3088767" cy="1447800"/>
            <a:chOff x="5318760" y="3200400"/>
            <a:chExt cx="3088767" cy="1447800"/>
          </a:xfrm>
        </p:grpSpPr>
        <p:sp>
          <p:nvSpPr>
            <p:cNvPr id="25" name="Ellipse 25"/>
            <p:cNvSpPr/>
            <p:nvPr/>
          </p:nvSpPr>
          <p:spPr>
            <a:xfrm>
              <a:off x="5867400" y="3200400"/>
              <a:ext cx="457200" cy="4572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030154" y="33756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503545" y="38223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固化阶段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318760" y="4156710"/>
              <a:ext cx="308876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把 `docs/prd/`、`CHANGELOG.md`、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318760" y="4404360"/>
              <a:ext cx="270319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`CLAUDE.md` 纳入 PR 检查范围。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938010" y="3200400"/>
            <a:ext cx="1958340" cy="1447800"/>
            <a:chOff x="6938010" y="3200400"/>
            <a:chExt cx="1958340" cy="1447800"/>
          </a:xfrm>
        </p:grpSpPr>
        <p:sp>
          <p:nvSpPr>
            <p:cNvPr id="31" name="Ellipse 31"/>
            <p:cNvSpPr/>
            <p:nvPr/>
          </p:nvSpPr>
          <p:spPr>
            <a:xfrm>
              <a:off x="7486650" y="3200400"/>
              <a:ext cx="457200" cy="4572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649404" y="33756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22795" y="38223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推广阶段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938010" y="4156710"/>
              <a:ext cx="19583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沉淀优秀版本样例，形成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938010" y="4404360"/>
              <a:ext cx="12573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团队内部标准。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8557260" y="3200400"/>
            <a:ext cx="2659380" cy="1447800"/>
            <a:chOff x="8557260" y="3200400"/>
            <a:chExt cx="2659380" cy="1447800"/>
          </a:xfrm>
        </p:grpSpPr>
        <p:sp>
          <p:nvSpPr>
            <p:cNvPr id="37" name="Ellipse 37"/>
            <p:cNvSpPr/>
            <p:nvPr/>
          </p:nvSpPr>
          <p:spPr>
            <a:xfrm>
              <a:off x="9105900" y="3200400"/>
              <a:ext cx="457200" cy="4572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9268654" y="3375660"/>
              <a:ext cx="1316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5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742045" y="3822382"/>
              <a:ext cx="105403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237E"/>
                  </a:solidFill>
                  <a:latin typeface="Arial"/>
                  <a:ea typeface="Microsoft YaHei"/>
                  <a:cs typeface="Arial"/>
                </a:rPr>
                <a:t>持续阶段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557260" y="4156710"/>
              <a:ext cx="2124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每次增量需求、Bug 修复、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57260" y="4404360"/>
              <a:ext cx="26593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F6368"/>
                  </a:solidFill>
                  <a:latin typeface="Arial"/>
                  <a:ea typeface="Microsoft YaHei"/>
                  <a:cs typeface="Arial"/>
                </a:rPr>
                <a:t>重构、上线变更都同步更新文档。</a:t>
              </a:r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4430339" y="5203508"/>
            <a:ext cx="3331321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50" b="1" dirty="0">
                <a:solidFill>
                  <a:srgbClr val="1A237E"/>
                </a:solidFill>
                <a:latin typeface="Arial"/>
                <a:ea typeface="Microsoft YaHei"/>
                <a:cs typeface="Arial"/>
              </a:rPr>
              <a:t>从下一个明确版本开始试点。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5467350" y="6419850"/>
            <a:ext cx="1257300" cy="114300"/>
            <a:chOff x="5467350" y="6419850"/>
            <a:chExt cx="1257300" cy="114300"/>
          </a:xfrm>
        </p:grpSpPr>
        <p:sp>
          <p:nvSpPr>
            <p:cNvPr id="44" name="Ellipse 44"/>
            <p:cNvSpPr/>
            <p:nvPr/>
          </p:nvSpPr>
          <p:spPr>
            <a:xfrm>
              <a:off x="5467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5753100" y="6419850"/>
              <a:ext cx="114300" cy="114300"/>
            </a:xfrm>
            <a:prstGeom prst="ellipse">
              <a:avLst/>
            </a:prstGeom>
            <a:solidFill>
              <a:srgbClr val="EA4335"/>
            </a:solidFill>
            <a:ln>
              <a:noFill/>
            </a:ln>
          </p:spPr>
        </p:sp>
        <p:sp>
          <p:nvSpPr>
            <p:cNvPr id="46" name="Ellipse 46"/>
            <p:cNvSpPr/>
            <p:nvPr/>
          </p:nvSpPr>
          <p:spPr>
            <a:xfrm>
              <a:off x="6038850" y="6419850"/>
              <a:ext cx="114300" cy="114300"/>
            </a:xfrm>
            <a:prstGeom prst="ellipse">
              <a:avLst/>
            </a:prstGeom>
            <a:solidFill>
              <a:srgbClr val="FBBC04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324600" y="6419850"/>
              <a:ext cx="114300" cy="114300"/>
            </a:xfrm>
            <a:prstGeom prst="ellipse">
              <a:avLst/>
            </a:prstGeom>
            <a:solidFill>
              <a:srgbClr val="34A853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6610350" y="6419850"/>
              <a:ext cx="114300" cy="114300"/>
            </a:xfrm>
            <a:prstGeom prst="ellipse">
              <a:avLst/>
            </a:prstGeom>
            <a:solidFill>
              <a:srgbClr val="4285F4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3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7" grpId="0"/>
      <p:bldP spid="24" grpId="0"/>
      <p:bldP spid="30" grpId="0"/>
      <p:bldP spid="36" grpId="0"/>
      <p:bldP spid="4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